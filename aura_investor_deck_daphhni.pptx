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5BDB"/>
          </a:solidFill>
          <a:ln/>
        </p:spPr>
      </p:sp>
      <p:sp>
        <p:nvSpPr>
          <p:cNvPr id="3" name="Text 1"/>
          <p:cNvSpPr/>
          <p:nvPr/>
        </p:nvSpPr>
        <p:spPr>
          <a:xfrm>
            <a:off x="731520" y="1280160"/>
            <a:ext cx="7680960" cy="914400"/>
          </a:xfrm>
          <a:prstGeom prst="rect">
            <a:avLst/>
          </a:prstGeom>
          <a:noFill/>
          <a:ln/>
        </p:spPr>
        <p:txBody>
          <a:bodyPr wrap="square" lIns="0" tIns="0" rIns="0" bIns="0" rtlCol="0" anchor="ctr"/>
          <a:lstStyle/>
          <a:p>
            <a:pPr indent="0" marL="0">
              <a:buNone/>
            </a:pPr>
            <a:r>
              <a:rPr lang="en-US" sz="4800" b="1" dirty="0">
                <a:solidFill>
                  <a:srgbClr val="FFFFFF"/>
                </a:solidFill>
                <a:latin typeface="Space Grotesk" pitchFamily="34" charset="0"/>
                <a:ea typeface="Space Grotesk" pitchFamily="34" charset="-122"/>
                <a:cs typeface="Space Grotesk" pitchFamily="34" charset="-120"/>
              </a:rPr>
              <a:t>AURA Labs</a:t>
            </a:r>
            <a:endParaRPr lang="en-US" sz="4800" dirty="0"/>
          </a:p>
        </p:txBody>
      </p:sp>
      <p:sp>
        <p:nvSpPr>
          <p:cNvPr id="4" name="Text 2"/>
          <p:cNvSpPr/>
          <p:nvPr/>
        </p:nvSpPr>
        <p:spPr>
          <a:xfrm>
            <a:off x="731520" y="2194560"/>
            <a:ext cx="7680960" cy="548640"/>
          </a:xfrm>
          <a:prstGeom prst="rect">
            <a:avLst/>
          </a:prstGeom>
          <a:noFill/>
          <a:ln/>
        </p:spPr>
        <p:txBody>
          <a:bodyPr wrap="square" lIns="0" tIns="0" rIns="0" bIns="0" rtlCol="0" anchor="ctr"/>
          <a:lstStyle/>
          <a:p>
            <a:pPr indent="0" marL="0">
              <a:buNone/>
            </a:pPr>
            <a:r>
              <a:rPr lang="en-US" sz="2200" dirty="0">
                <a:solidFill>
                  <a:srgbClr val="5C7CFA"/>
                </a:solidFill>
                <a:latin typeface="IBM Plex Sans" pitchFamily="34" charset="0"/>
                <a:ea typeface="IBM Plex Sans" pitchFamily="34" charset="-122"/>
                <a:cs typeface="IBM Plex Sans" pitchFamily="34" charset="-120"/>
              </a:rPr>
              <a:t>Infrastructure for Agentic Commerce</a:t>
            </a:r>
            <a:endParaRPr lang="en-US" sz="2200" dirty="0"/>
          </a:p>
        </p:txBody>
      </p:sp>
      <p:sp>
        <p:nvSpPr>
          <p:cNvPr id="5" name="Text 3"/>
          <p:cNvSpPr/>
          <p:nvPr/>
        </p:nvSpPr>
        <p:spPr>
          <a:xfrm>
            <a:off x="731520" y="2834640"/>
            <a:ext cx="7680960" cy="457200"/>
          </a:xfrm>
          <a:prstGeom prst="rect">
            <a:avLst/>
          </a:prstGeom>
          <a:noFill/>
          <a:ln/>
        </p:spPr>
        <p:txBody>
          <a:bodyPr wrap="square" lIns="0" tIns="0" rIns="0" bIns="0" rtlCol="0" anchor="ctr"/>
          <a:lstStyle/>
          <a:p>
            <a:pPr indent="0" marL="0">
              <a:buNone/>
            </a:pPr>
            <a:r>
              <a:rPr lang="en-US" sz="1300" i="1" dirty="0">
                <a:solidFill>
                  <a:srgbClr val="718096"/>
                </a:solidFill>
                <a:latin typeface="IBM Plex Sans" pitchFamily="34" charset="0"/>
                <a:ea typeface="IBM Plex Sans" pitchFamily="34" charset="-122"/>
                <a:cs typeface="IBM Plex Sans" pitchFamily="34" charset="-120"/>
              </a:rPr>
              <a:t>Agent Universal Resource Architecture</a:t>
            </a:r>
            <a:endParaRPr lang="en-US" sz="1300" dirty="0"/>
          </a:p>
        </p:txBody>
      </p:sp>
      <p:sp>
        <p:nvSpPr>
          <p:cNvPr id="6" name="Text 4"/>
          <p:cNvSpPr/>
          <p:nvPr/>
        </p:nvSpPr>
        <p:spPr>
          <a:xfrm>
            <a:off x="731520" y="4389120"/>
            <a:ext cx="3657600" cy="365760"/>
          </a:xfrm>
          <a:prstGeom prst="rect">
            <a:avLst/>
          </a:prstGeom>
          <a:noFill/>
          <a:ln/>
        </p:spPr>
        <p:txBody>
          <a:bodyPr wrap="square" lIns="0" tIns="0" rIns="0" bIns="0" rtlCol="0" anchor="ctr"/>
          <a:lstStyle/>
          <a:p>
            <a:pPr indent="0" marL="0">
              <a:buNone/>
            </a:pPr>
            <a:r>
              <a:rPr lang="en-US" sz="1200" dirty="0">
                <a:solidFill>
                  <a:srgbClr val="718096"/>
                </a:solidFill>
                <a:latin typeface="IBM Plex Sans" pitchFamily="34" charset="0"/>
                <a:ea typeface="IBM Plex Sans" pitchFamily="34" charset="-122"/>
                <a:cs typeface="IBM Plex Sans" pitchFamily="34" charset="-120"/>
              </a:rPr>
              <a:t>Pre-Seed  |  February 2026</a:t>
            </a:r>
            <a:endParaRPr lang="en-US" sz="1200" dirty="0"/>
          </a:p>
        </p:txBody>
      </p:sp>
      <p:sp>
        <p:nvSpPr>
          <p:cNvPr id="7" name="Text 5"/>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365760"/>
            <a:ext cx="7680960" cy="822960"/>
          </a:xfrm>
          <a:prstGeom prst="rect">
            <a:avLst/>
          </a:prstGeom>
          <a:noFill/>
          <a:ln/>
        </p:spPr>
        <p:txBody>
          <a:bodyPr wrap="square" lIns="0" tIns="0" rIns="0" bIns="0" rtlCol="0" anchor="ctr"/>
          <a:lstStyle/>
          <a:p>
            <a:pPr indent="0" marL="0">
              <a:buNone/>
            </a:pPr>
            <a:r>
              <a:rPr lang="en-US" sz="2800" b="1" dirty="0">
                <a:solidFill>
                  <a:srgbClr val="1A2332"/>
                </a:solidFill>
                <a:latin typeface="Space Grotesk" pitchFamily="34" charset="0"/>
                <a:ea typeface="Space Grotesk" pitchFamily="34" charset="-122"/>
                <a:cs typeface="Space Grotesk" pitchFamily="34" charset="-120"/>
              </a:rPr>
              <a:t>Consumers are already moving.</a:t>
            </a:r>
            <a:endParaRPr lang="en-US" sz="2800" dirty="0"/>
          </a:p>
          <a:p>
            <a:pPr indent="0" marL="0">
              <a:buNone/>
            </a:pPr>
            <a:r>
              <a:rPr lang="en-US" sz="2800" b="1" dirty="0">
                <a:solidFill>
                  <a:srgbClr val="1A2332"/>
                </a:solidFill>
                <a:latin typeface="Space Grotesk" pitchFamily="34" charset="0"/>
                <a:ea typeface="Space Grotesk" pitchFamily="34" charset="-122"/>
                <a:cs typeface="Space Grotesk" pitchFamily="34" charset="-120"/>
              </a:rPr>
              <a:t>Infrastructure hasn't.</a:t>
            </a:r>
            <a:endParaRPr lang="en-US" sz="2800" dirty="0"/>
          </a:p>
        </p:txBody>
      </p:sp>
      <p:sp>
        <p:nvSpPr>
          <p:cNvPr id="3" name="Shape 1"/>
          <p:cNvSpPr/>
          <p:nvPr/>
        </p:nvSpPr>
        <p:spPr>
          <a:xfrm>
            <a:off x="731520" y="1508760"/>
            <a:ext cx="2468880" cy="2194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Text 2"/>
          <p:cNvSpPr/>
          <p:nvPr/>
        </p:nvSpPr>
        <p:spPr>
          <a:xfrm>
            <a:off x="731520" y="1691640"/>
            <a:ext cx="2468880" cy="731520"/>
          </a:xfrm>
          <a:prstGeom prst="rect">
            <a:avLst/>
          </a:prstGeom>
          <a:noFill/>
          <a:ln/>
        </p:spPr>
        <p:txBody>
          <a:bodyPr wrap="square" lIns="0" tIns="0" rIns="0" bIns="0" rtlCol="0" anchor="ctr"/>
          <a:lstStyle/>
          <a:p>
            <a:pPr algn="ctr" indent="0" marL="0">
              <a:buNone/>
            </a:pPr>
            <a:r>
              <a:rPr lang="en-US" sz="4400" b="1" dirty="0">
                <a:solidFill>
                  <a:srgbClr val="3B5BDB"/>
                </a:solidFill>
                <a:latin typeface="Space Grotesk" pitchFamily="34" charset="0"/>
                <a:ea typeface="Space Grotesk" pitchFamily="34" charset="-122"/>
                <a:cs typeface="Space Grotesk" pitchFamily="34" charset="-120"/>
              </a:rPr>
              <a:t>33%</a:t>
            </a:r>
            <a:endParaRPr lang="en-US" sz="4400" dirty="0"/>
          </a:p>
        </p:txBody>
      </p:sp>
      <p:sp>
        <p:nvSpPr>
          <p:cNvPr id="5" name="Text 3"/>
          <p:cNvSpPr/>
          <p:nvPr/>
        </p:nvSpPr>
        <p:spPr>
          <a:xfrm>
            <a:off x="914400" y="2423160"/>
            <a:ext cx="2103120" cy="640080"/>
          </a:xfrm>
          <a:prstGeom prst="rect">
            <a:avLst/>
          </a:prstGeom>
          <a:noFill/>
          <a:ln/>
        </p:spPr>
        <p:txBody>
          <a:bodyPr wrap="square" lIns="0" tIns="0" rIns="0" bIns="0" rtlCol="0" anchor="ctr"/>
          <a:lstStyle/>
          <a:p>
            <a:pPr algn="ctr" indent="0" marL="0">
              <a:buNone/>
            </a:pPr>
            <a:r>
              <a:rPr lang="en-US" sz="1300" dirty="0">
                <a:solidFill>
                  <a:srgbClr val="1A2332"/>
                </a:solidFill>
                <a:latin typeface="IBM Plex Sans" pitchFamily="34" charset="0"/>
                <a:ea typeface="IBM Plex Sans" pitchFamily="34" charset="-122"/>
                <a:cs typeface="IBM Plex Sans" pitchFamily="34" charset="-120"/>
              </a:rPr>
              <a:t>of Gen Z prefer AI platforms</a:t>
            </a:r>
            <a:endParaRPr lang="en-US" sz="1300" dirty="0"/>
          </a:p>
          <a:p>
            <a:pPr algn="ctr" indent="0" marL="0">
              <a:buNone/>
            </a:pPr>
            <a:r>
              <a:rPr lang="en-US" sz="1300" dirty="0">
                <a:solidFill>
                  <a:srgbClr val="1A2332"/>
                </a:solidFill>
                <a:latin typeface="IBM Plex Sans" pitchFamily="34" charset="0"/>
                <a:ea typeface="IBM Plex Sans" pitchFamily="34" charset="-122"/>
                <a:cs typeface="IBM Plex Sans" pitchFamily="34" charset="-120"/>
              </a:rPr>
              <a:t>for product research</a:t>
            </a:r>
            <a:endParaRPr lang="en-US" sz="1300" dirty="0"/>
          </a:p>
        </p:txBody>
      </p:sp>
      <p:sp>
        <p:nvSpPr>
          <p:cNvPr id="6" name="Text 4"/>
          <p:cNvSpPr/>
          <p:nvPr/>
        </p:nvSpPr>
        <p:spPr>
          <a:xfrm>
            <a:off x="914400" y="3200400"/>
            <a:ext cx="2103120" cy="320040"/>
          </a:xfrm>
          <a:prstGeom prst="rect">
            <a:avLst/>
          </a:prstGeom>
          <a:noFill/>
          <a:ln/>
        </p:spPr>
        <p:txBody>
          <a:bodyPr wrap="square" lIns="0" tIns="0" rIns="0" bIns="0" rtlCol="0" anchor="ctr"/>
          <a:lstStyle/>
          <a:p>
            <a:pPr algn="ctr" indent="0" marL="0">
              <a:buNone/>
            </a:pPr>
            <a:r>
              <a:rPr lang="en-US" sz="900" i="1" dirty="0">
                <a:solidFill>
                  <a:srgbClr val="718096"/>
                </a:solidFill>
                <a:latin typeface="IBM Plex Sans" pitchFamily="34" charset="0"/>
                <a:ea typeface="IBM Plex Sans" pitchFamily="34" charset="-122"/>
                <a:cs typeface="IBM Plex Sans" pitchFamily="34" charset="-120"/>
              </a:rPr>
              <a:t>Mintel 2024</a:t>
            </a:r>
            <a:endParaRPr lang="en-US" sz="900" dirty="0"/>
          </a:p>
        </p:txBody>
      </p:sp>
      <p:sp>
        <p:nvSpPr>
          <p:cNvPr id="7" name="Shape 5"/>
          <p:cNvSpPr/>
          <p:nvPr/>
        </p:nvSpPr>
        <p:spPr>
          <a:xfrm>
            <a:off x="3474720" y="1508760"/>
            <a:ext cx="2468880" cy="2194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8" name="Text 6"/>
          <p:cNvSpPr/>
          <p:nvPr/>
        </p:nvSpPr>
        <p:spPr>
          <a:xfrm>
            <a:off x="3474720" y="1691640"/>
            <a:ext cx="2468880" cy="731520"/>
          </a:xfrm>
          <a:prstGeom prst="rect">
            <a:avLst/>
          </a:prstGeom>
          <a:noFill/>
          <a:ln/>
        </p:spPr>
        <p:txBody>
          <a:bodyPr wrap="square" lIns="0" tIns="0" rIns="0" bIns="0" rtlCol="0" anchor="ctr"/>
          <a:lstStyle/>
          <a:p>
            <a:pPr algn="ctr" indent="0" marL="0">
              <a:buNone/>
            </a:pPr>
            <a:r>
              <a:rPr lang="en-US" sz="4400" b="1" dirty="0">
                <a:solidFill>
                  <a:srgbClr val="3B5BDB"/>
                </a:solidFill>
                <a:latin typeface="Space Grotesk" pitchFamily="34" charset="0"/>
                <a:ea typeface="Space Grotesk" pitchFamily="34" charset="-122"/>
                <a:cs typeface="Space Grotesk" pitchFamily="34" charset="-120"/>
              </a:rPr>
              <a:t>71%</a:t>
            </a:r>
            <a:endParaRPr lang="en-US" sz="4400" dirty="0"/>
          </a:p>
        </p:txBody>
      </p:sp>
      <p:sp>
        <p:nvSpPr>
          <p:cNvPr id="9" name="Text 7"/>
          <p:cNvSpPr/>
          <p:nvPr/>
        </p:nvSpPr>
        <p:spPr>
          <a:xfrm>
            <a:off x="3657600" y="2423160"/>
            <a:ext cx="2103120" cy="640080"/>
          </a:xfrm>
          <a:prstGeom prst="rect">
            <a:avLst/>
          </a:prstGeom>
          <a:noFill/>
          <a:ln/>
        </p:spPr>
        <p:txBody>
          <a:bodyPr wrap="square" lIns="0" tIns="0" rIns="0" bIns="0" rtlCol="0" anchor="ctr"/>
          <a:lstStyle/>
          <a:p>
            <a:pPr algn="ctr" indent="0" marL="0">
              <a:buNone/>
            </a:pPr>
            <a:r>
              <a:rPr lang="en-US" sz="1300" dirty="0">
                <a:solidFill>
                  <a:srgbClr val="1A2332"/>
                </a:solidFill>
                <a:latin typeface="IBM Plex Sans" pitchFamily="34" charset="0"/>
                <a:ea typeface="IBM Plex Sans" pitchFamily="34" charset="-122"/>
                <a:cs typeface="IBM Plex Sans" pitchFamily="34" charset="-120"/>
              </a:rPr>
              <a:t>of consumers want AI integrated</a:t>
            </a:r>
            <a:endParaRPr lang="en-US" sz="1300" dirty="0"/>
          </a:p>
          <a:p>
            <a:pPr algn="ctr" indent="0" marL="0">
              <a:buNone/>
            </a:pPr>
            <a:r>
              <a:rPr lang="en-US" sz="1300" dirty="0">
                <a:solidFill>
                  <a:srgbClr val="1A2332"/>
                </a:solidFill>
                <a:latin typeface="IBM Plex Sans" pitchFamily="34" charset="0"/>
                <a:ea typeface="IBM Plex Sans" pitchFamily="34" charset="-122"/>
                <a:cs typeface="IBM Plex Sans" pitchFamily="34" charset="-120"/>
              </a:rPr>
              <a:t>into their shopping</a:t>
            </a:r>
            <a:endParaRPr lang="en-US" sz="1300" dirty="0"/>
          </a:p>
        </p:txBody>
      </p:sp>
      <p:sp>
        <p:nvSpPr>
          <p:cNvPr id="10" name="Text 8"/>
          <p:cNvSpPr/>
          <p:nvPr/>
        </p:nvSpPr>
        <p:spPr>
          <a:xfrm>
            <a:off x="3657600" y="3200400"/>
            <a:ext cx="2103120" cy="320040"/>
          </a:xfrm>
          <a:prstGeom prst="rect">
            <a:avLst/>
          </a:prstGeom>
          <a:noFill/>
          <a:ln/>
        </p:spPr>
        <p:txBody>
          <a:bodyPr wrap="square" lIns="0" tIns="0" rIns="0" bIns="0" rtlCol="0" anchor="ctr"/>
          <a:lstStyle/>
          <a:p>
            <a:pPr algn="ctr" indent="0" marL="0">
              <a:buNone/>
            </a:pPr>
            <a:r>
              <a:rPr lang="en-US" sz="900" i="1" dirty="0">
                <a:solidFill>
                  <a:srgbClr val="718096"/>
                </a:solidFill>
                <a:latin typeface="IBM Plex Sans" pitchFamily="34" charset="0"/>
                <a:ea typeface="IBM Plex Sans" pitchFamily="34" charset="-122"/>
                <a:cs typeface="IBM Plex Sans" pitchFamily="34" charset="-120"/>
              </a:rPr>
              <a:t>Commerce/Future Commerce 2024</a:t>
            </a:r>
            <a:endParaRPr lang="en-US" sz="900" dirty="0"/>
          </a:p>
        </p:txBody>
      </p:sp>
      <p:sp>
        <p:nvSpPr>
          <p:cNvPr id="11" name="Shape 9"/>
          <p:cNvSpPr/>
          <p:nvPr/>
        </p:nvSpPr>
        <p:spPr>
          <a:xfrm>
            <a:off x="6217920" y="1508760"/>
            <a:ext cx="2468880" cy="2194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2" name="Text 10"/>
          <p:cNvSpPr/>
          <p:nvPr/>
        </p:nvSpPr>
        <p:spPr>
          <a:xfrm>
            <a:off x="6217920" y="1691640"/>
            <a:ext cx="2468880" cy="731520"/>
          </a:xfrm>
          <a:prstGeom prst="rect">
            <a:avLst/>
          </a:prstGeom>
          <a:noFill/>
          <a:ln/>
        </p:spPr>
        <p:txBody>
          <a:bodyPr wrap="square" lIns="0" tIns="0" rIns="0" bIns="0" rtlCol="0" anchor="ctr"/>
          <a:lstStyle/>
          <a:p>
            <a:pPr algn="ctr" indent="0" marL="0">
              <a:buNone/>
            </a:pPr>
            <a:r>
              <a:rPr lang="en-US" sz="4400" b="1" dirty="0">
                <a:solidFill>
                  <a:srgbClr val="3B5BDB"/>
                </a:solidFill>
                <a:latin typeface="Space Grotesk" pitchFamily="34" charset="0"/>
                <a:ea typeface="Space Grotesk" pitchFamily="34" charset="-122"/>
                <a:cs typeface="Space Grotesk" pitchFamily="34" charset="-120"/>
              </a:rPr>
              <a:t>120M</a:t>
            </a:r>
            <a:endParaRPr lang="en-US" sz="4400" dirty="0"/>
          </a:p>
        </p:txBody>
      </p:sp>
      <p:sp>
        <p:nvSpPr>
          <p:cNvPr id="13" name="Text 11"/>
          <p:cNvSpPr/>
          <p:nvPr/>
        </p:nvSpPr>
        <p:spPr>
          <a:xfrm>
            <a:off x="6400800" y="2423160"/>
            <a:ext cx="2103120" cy="640080"/>
          </a:xfrm>
          <a:prstGeom prst="rect">
            <a:avLst/>
          </a:prstGeom>
          <a:noFill/>
          <a:ln/>
        </p:spPr>
        <p:txBody>
          <a:bodyPr wrap="square" lIns="0" tIns="0" rIns="0" bIns="0" rtlCol="0" anchor="ctr"/>
          <a:lstStyle/>
          <a:p>
            <a:pPr algn="ctr" indent="0" marL="0">
              <a:buNone/>
            </a:pPr>
            <a:r>
              <a:rPr lang="en-US" sz="1300" dirty="0">
                <a:solidFill>
                  <a:srgbClr val="1A2332"/>
                </a:solidFill>
                <a:latin typeface="IBM Plex Sans" pitchFamily="34" charset="0"/>
                <a:ea typeface="IBM Plex Sans" pitchFamily="34" charset="-122"/>
                <a:cs typeface="IBM Plex Sans" pitchFamily="34" charset="-120"/>
              </a:rPr>
              <a:t>weekly agent-mediated</a:t>
            </a:r>
            <a:endParaRPr lang="en-US" sz="1300" dirty="0"/>
          </a:p>
          <a:p>
            <a:pPr algn="ctr" indent="0" marL="0">
              <a:buNone/>
            </a:pPr>
            <a:r>
              <a:rPr lang="en-US" sz="1300" dirty="0">
                <a:solidFill>
                  <a:srgbClr val="1A2332"/>
                </a:solidFill>
                <a:latin typeface="IBM Plex Sans" pitchFamily="34" charset="0"/>
                <a:ea typeface="IBM Plex Sans" pitchFamily="34" charset="-122"/>
                <a:cs typeface="IBM Plex Sans" pitchFamily="34" charset="-120"/>
              </a:rPr>
              <a:t>transactions on Alipay</a:t>
            </a:r>
            <a:endParaRPr lang="en-US" sz="1300" dirty="0"/>
          </a:p>
        </p:txBody>
      </p:sp>
      <p:sp>
        <p:nvSpPr>
          <p:cNvPr id="14" name="Text 12"/>
          <p:cNvSpPr/>
          <p:nvPr/>
        </p:nvSpPr>
        <p:spPr>
          <a:xfrm>
            <a:off x="6400800" y="3200400"/>
            <a:ext cx="2103120" cy="320040"/>
          </a:xfrm>
          <a:prstGeom prst="rect">
            <a:avLst/>
          </a:prstGeom>
          <a:noFill/>
          <a:ln/>
        </p:spPr>
        <p:txBody>
          <a:bodyPr wrap="square" lIns="0" tIns="0" rIns="0" bIns="0" rtlCol="0" anchor="ctr"/>
          <a:lstStyle/>
          <a:p>
            <a:pPr algn="ctr" indent="0" marL="0">
              <a:buNone/>
            </a:pPr>
            <a:r>
              <a:rPr lang="en-US" sz="900" i="1" dirty="0">
                <a:solidFill>
                  <a:srgbClr val="718096"/>
                </a:solidFill>
                <a:latin typeface="IBM Plex Sans" pitchFamily="34" charset="0"/>
                <a:ea typeface="IBM Plex Sans" pitchFamily="34" charset="-122"/>
                <a:cs typeface="IBM Plex Sans" pitchFamily="34" charset="-120"/>
              </a:rPr>
              <a:t>Alipay 2025</a:t>
            </a:r>
            <a:endParaRPr lang="en-US" sz="900" dirty="0"/>
          </a:p>
        </p:txBody>
      </p:sp>
      <p:sp>
        <p:nvSpPr>
          <p:cNvPr id="15" name="Text 13"/>
          <p:cNvSpPr/>
          <p:nvPr/>
        </p:nvSpPr>
        <p:spPr>
          <a:xfrm>
            <a:off x="731520" y="3931920"/>
            <a:ext cx="7680960" cy="822960"/>
          </a:xfrm>
          <a:prstGeom prst="rect">
            <a:avLst/>
          </a:prstGeom>
          <a:noFill/>
          <a:ln/>
        </p:spPr>
        <p:txBody>
          <a:bodyPr wrap="square" lIns="0" tIns="0" rIns="0" bIns="0" rtlCol="0" anchor="ctr"/>
          <a:lstStyle/>
          <a:p>
            <a:pPr indent="0" marL="0">
              <a:buNone/>
            </a:pPr>
            <a:r>
              <a:rPr lang="en-US" sz="1300" i="1" dirty="0">
                <a:solidFill>
                  <a:srgbClr val="4A5568"/>
                </a:solidFill>
                <a:latin typeface="IBM Plex Sans" pitchFamily="34" charset="0"/>
                <a:ea typeface="IBM Plex Sans" pitchFamily="34" charset="-122"/>
                <a:cs typeface="IBM Plex Sans" pitchFamily="34" charset="-120"/>
              </a:rPr>
              <a:t>The behavioral shift is happening. The demand is measurable.</a:t>
            </a:r>
            <a:endParaRPr lang="en-US" sz="1300" dirty="0"/>
          </a:p>
          <a:p>
            <a:pPr indent="0" marL="0">
              <a:buNone/>
            </a:pPr>
            <a:r>
              <a:rPr lang="en-US" sz="1300" i="1" dirty="0">
                <a:solidFill>
                  <a:srgbClr val="4A5568"/>
                </a:solidFill>
                <a:latin typeface="IBM Plex Sans" pitchFamily="34" charset="0"/>
                <a:ea typeface="IBM Plex Sans" pitchFamily="34" charset="-122"/>
                <a:cs typeface="IBM Plex Sans" pitchFamily="34" charset="-120"/>
              </a:rPr>
              <a:t>But every one of these transactions runs on infrastructure designed for humans clicking buttons.</a:t>
            </a:r>
            <a:endParaRPr lang="en-US" sz="1300" dirty="0"/>
          </a:p>
        </p:txBody>
      </p:sp>
      <p:sp>
        <p:nvSpPr>
          <p:cNvPr id="16" name="Text 14"/>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731520" y="457200"/>
            <a:ext cx="7680960" cy="17373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 name="Shape 1"/>
          <p:cNvSpPr/>
          <p:nvPr/>
        </p:nvSpPr>
        <p:spPr>
          <a:xfrm>
            <a:off x="731520" y="457200"/>
            <a:ext cx="54864" cy="1737360"/>
          </a:xfrm>
          <a:prstGeom prst="rect">
            <a:avLst/>
          </a:prstGeom>
          <a:solidFill>
            <a:srgbClr val="3B5BDB"/>
          </a:solidFill>
          <a:ln/>
        </p:spPr>
      </p:sp>
      <p:sp>
        <p:nvSpPr>
          <p:cNvPr id="4" name="Text 2"/>
          <p:cNvSpPr/>
          <p:nvPr/>
        </p:nvSpPr>
        <p:spPr>
          <a:xfrm>
            <a:off x="1097280" y="685800"/>
            <a:ext cx="6949440" cy="914400"/>
          </a:xfrm>
          <a:prstGeom prst="rect">
            <a:avLst/>
          </a:prstGeom>
          <a:noFill/>
          <a:ln/>
        </p:spPr>
        <p:txBody>
          <a:bodyPr wrap="square" lIns="0" tIns="0" rIns="0" bIns="0" rtlCol="0" anchor="ctr"/>
          <a:lstStyle/>
          <a:p>
            <a:pPr indent="0" marL="0">
              <a:buNone/>
            </a:pPr>
            <a:r>
              <a:rPr lang="en-US" sz="2200" i="1" dirty="0">
                <a:solidFill>
                  <a:srgbClr val="1A2332"/>
                </a:solidFill>
                <a:latin typeface="Space Grotesk" pitchFamily="34" charset="0"/>
                <a:ea typeface="Space Grotesk" pitchFamily="34" charset="-122"/>
                <a:cs typeface="Space Grotesk" pitchFamily="34" charset="-120"/>
              </a:rPr>
              <a:t>"This product/service does not yet exist, at least in the form being imagined."</a:t>
            </a:r>
            <a:endParaRPr lang="en-US" sz="2200" dirty="0"/>
          </a:p>
        </p:txBody>
      </p:sp>
      <p:sp>
        <p:nvSpPr>
          <p:cNvPr id="5" name="Text 3"/>
          <p:cNvSpPr/>
          <p:nvPr/>
        </p:nvSpPr>
        <p:spPr>
          <a:xfrm>
            <a:off x="1097280" y="1645920"/>
            <a:ext cx="6949440" cy="457200"/>
          </a:xfrm>
          <a:prstGeom prst="rect">
            <a:avLst/>
          </a:prstGeom>
          <a:noFill/>
          <a:ln/>
        </p:spPr>
        <p:txBody>
          <a:bodyPr wrap="square" lIns="0" tIns="0" rIns="0" bIns="0" rtlCol="0" anchor="ctr"/>
          <a:lstStyle/>
          <a:p>
            <a:pPr indent="0" marL="0">
              <a:buNone/>
            </a:pPr>
            <a:r>
              <a:rPr lang="en-US" sz="1000" dirty="0">
                <a:solidFill>
                  <a:srgbClr val="718096"/>
                </a:solidFill>
                <a:latin typeface="IBM Plex Sans" pitchFamily="34" charset="0"/>
                <a:ea typeface="IBM Plex Sans" pitchFamily="34" charset="-122"/>
                <a:cs typeface="IBM Plex Sans" pitchFamily="34" charset="-120"/>
              </a:rPr>
              <a:t>NBER Working Paper: "The Coasean Singularity? Demand, Supply, and Market Design with AI Agents"</a:t>
            </a:r>
            <a:endParaRPr lang="en-US" sz="1000" dirty="0"/>
          </a:p>
          <a:p>
            <a:pPr indent="0" marL="0">
              <a:buNone/>
            </a:pPr>
            <a:r>
              <a:rPr lang="en-US" sz="1000" dirty="0">
                <a:solidFill>
                  <a:srgbClr val="718096"/>
                </a:solidFill>
                <a:latin typeface="IBM Plex Sans" pitchFamily="34" charset="0"/>
                <a:ea typeface="IBM Plex Sans" pitchFamily="34" charset="-122"/>
                <a:cs typeface="IBM Plex Sans" pitchFamily="34" charset="-120"/>
              </a:rPr>
              <a:t>Economists from MIT, Harvard, and Boston University</a:t>
            </a:r>
            <a:endParaRPr lang="en-US" sz="1000" dirty="0"/>
          </a:p>
        </p:txBody>
      </p:sp>
      <p:sp>
        <p:nvSpPr>
          <p:cNvPr id="6" name="Shape 4"/>
          <p:cNvSpPr/>
          <p:nvPr/>
        </p:nvSpPr>
        <p:spPr>
          <a:xfrm>
            <a:off x="731520" y="2606040"/>
            <a:ext cx="7680960" cy="4572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7" name="Text 5"/>
          <p:cNvSpPr/>
          <p:nvPr/>
        </p:nvSpPr>
        <p:spPr>
          <a:xfrm>
            <a:off x="914400" y="2670048"/>
            <a:ext cx="274320" cy="274320"/>
          </a:xfrm>
          <a:prstGeom prst="ellipse">
            <a:avLst/>
          </a:prstGeom>
          <a:solidFill>
            <a:srgbClr val="3B5BDB"/>
          </a:solidFill>
          <a:ln/>
        </p:spPr>
        <p:txBody>
          <a:bodyPr wrap="square" rtlCol="0" anchor="ctr"/>
          <a:lstStyle/>
          <a:p>
            <a:pPr algn="ctr" indent="0" marL="0">
              <a:buNone/>
            </a:pPr>
            <a:r>
              <a:rPr lang="en-US" sz="1400" dirty="0">
                <a:solidFill>
                  <a:srgbClr val="FFFFFF"/>
                </a:solidFill>
                <a:latin typeface="IBM Plex Sans" pitchFamily="34" charset="0"/>
                <a:ea typeface="IBM Plex Sans" pitchFamily="34" charset="-122"/>
                <a:cs typeface="IBM Plex Sans" pitchFamily="34" charset="-120"/>
              </a:rPr>
              <a:t>1</a:t>
            </a:r>
            <a:endParaRPr lang="en-US" sz="1400" dirty="0"/>
          </a:p>
        </p:txBody>
      </p:sp>
      <p:sp>
        <p:nvSpPr>
          <p:cNvPr id="8" name="Text 6"/>
          <p:cNvSpPr/>
          <p:nvPr/>
        </p:nvSpPr>
        <p:spPr>
          <a:xfrm>
            <a:off x="1371600" y="2606040"/>
            <a:ext cx="6858000" cy="457200"/>
          </a:xfrm>
          <a:prstGeom prst="rect">
            <a:avLst/>
          </a:prstGeom>
          <a:noFill/>
          <a:ln/>
        </p:spPr>
        <p:txBody>
          <a:bodyPr wrap="square" lIns="0" tIns="0" rIns="0" bIns="0" rtlCol="0" anchor="ctr"/>
          <a:lstStyle/>
          <a:p>
            <a:pPr indent="0" marL="0">
              <a:buNone/>
            </a:pPr>
            <a:r>
              <a:rPr lang="en-US" sz="1300" dirty="0">
                <a:solidFill>
                  <a:srgbClr val="1A2332"/>
                </a:solidFill>
                <a:latin typeface="IBM Plex Sans" pitchFamily="34" charset="0"/>
                <a:ea typeface="IBM Plex Sans" pitchFamily="34" charset="-122"/>
                <a:cs typeface="IBM Plex Sans" pitchFamily="34" charset="-120"/>
              </a:rPr>
              <a:t>Leading economists have identified the transformation.</a:t>
            </a:r>
            <a:endParaRPr lang="en-US" sz="1300" dirty="0"/>
          </a:p>
        </p:txBody>
      </p:sp>
      <p:sp>
        <p:nvSpPr>
          <p:cNvPr id="9" name="Shape 7"/>
          <p:cNvSpPr/>
          <p:nvPr/>
        </p:nvSpPr>
        <p:spPr>
          <a:xfrm>
            <a:off x="731520" y="3200400"/>
            <a:ext cx="7680960" cy="4572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914400" y="3264408"/>
            <a:ext cx="274320" cy="274320"/>
          </a:xfrm>
          <a:prstGeom prst="ellipse">
            <a:avLst/>
          </a:prstGeom>
          <a:solidFill>
            <a:srgbClr val="3B5BDB"/>
          </a:solidFill>
          <a:ln/>
        </p:spPr>
        <p:txBody>
          <a:bodyPr wrap="square" rtlCol="0" anchor="ctr"/>
          <a:lstStyle/>
          <a:p>
            <a:pPr algn="ctr" indent="0" marL="0">
              <a:buNone/>
            </a:pPr>
            <a:r>
              <a:rPr lang="en-US" sz="1400" dirty="0">
                <a:solidFill>
                  <a:srgbClr val="FFFFFF"/>
                </a:solidFill>
                <a:latin typeface="IBM Plex Sans" pitchFamily="34" charset="0"/>
                <a:ea typeface="IBM Plex Sans" pitchFamily="34" charset="-122"/>
                <a:cs typeface="IBM Plex Sans" pitchFamily="34" charset="-120"/>
              </a:rPr>
              <a:t>2</a:t>
            </a:r>
            <a:endParaRPr lang="en-US" sz="1400" dirty="0"/>
          </a:p>
        </p:txBody>
      </p:sp>
      <p:sp>
        <p:nvSpPr>
          <p:cNvPr id="11" name="Text 9"/>
          <p:cNvSpPr/>
          <p:nvPr/>
        </p:nvSpPr>
        <p:spPr>
          <a:xfrm>
            <a:off x="1371600" y="3200400"/>
            <a:ext cx="6858000" cy="457200"/>
          </a:xfrm>
          <a:prstGeom prst="rect">
            <a:avLst/>
          </a:prstGeom>
          <a:noFill/>
          <a:ln/>
        </p:spPr>
        <p:txBody>
          <a:bodyPr wrap="square" lIns="0" tIns="0" rIns="0" bIns="0" rtlCol="0" anchor="ctr"/>
          <a:lstStyle/>
          <a:p>
            <a:pPr indent="0" marL="0">
              <a:buNone/>
            </a:pPr>
            <a:r>
              <a:rPr lang="en-US" sz="1300" dirty="0">
                <a:solidFill>
                  <a:srgbClr val="1A2332"/>
                </a:solidFill>
                <a:latin typeface="IBM Plex Sans" pitchFamily="34" charset="0"/>
                <a:ea typeface="IBM Plex Sans" pitchFamily="34" charset="-122"/>
                <a:cs typeface="IBM Plex Sans" pitchFamily="34" charset="-120"/>
              </a:rPr>
              <a:t>They've mapped the theory: transaction cost reduction, matching market design, agency alignment.</a:t>
            </a:r>
            <a:endParaRPr lang="en-US" sz="1300" dirty="0"/>
          </a:p>
        </p:txBody>
      </p:sp>
      <p:sp>
        <p:nvSpPr>
          <p:cNvPr id="12" name="Shape 10"/>
          <p:cNvSpPr/>
          <p:nvPr/>
        </p:nvSpPr>
        <p:spPr>
          <a:xfrm>
            <a:off x="731520" y="3794760"/>
            <a:ext cx="7680960" cy="457200"/>
          </a:xfrm>
          <a:prstGeom prst="rect">
            <a:avLst/>
          </a:prstGeom>
          <a:solidFill>
            <a:srgbClr val="E8EDFF"/>
          </a:solidFill>
          <a:ln/>
          <a:effectLst>
            <a:outerShdw sx="100000" sy="100000" kx="0" ky="0" algn="bl" rotWithShape="0" blurRad="50800" dist="12700" dir="8100000">
              <a:srgbClr val="000000">
                <a:alpha val="8000"/>
              </a:srgbClr>
            </a:outerShdw>
          </a:effectLst>
        </p:spPr>
      </p:sp>
      <p:sp>
        <p:nvSpPr>
          <p:cNvPr id="13" name="Text 11"/>
          <p:cNvSpPr/>
          <p:nvPr/>
        </p:nvSpPr>
        <p:spPr>
          <a:xfrm>
            <a:off x="914400" y="3858768"/>
            <a:ext cx="274320" cy="274320"/>
          </a:xfrm>
          <a:prstGeom prst="ellipse">
            <a:avLst/>
          </a:prstGeom>
          <a:solidFill>
            <a:srgbClr val="3B5BDB"/>
          </a:solidFill>
          <a:ln/>
        </p:spPr>
        <p:txBody>
          <a:bodyPr wrap="square" rtlCol="0" anchor="ctr"/>
          <a:lstStyle/>
          <a:p>
            <a:pPr algn="ctr" indent="0" marL="0">
              <a:buNone/>
            </a:pPr>
            <a:r>
              <a:rPr lang="en-US" sz="1400" dirty="0">
                <a:solidFill>
                  <a:srgbClr val="FFFFFF"/>
                </a:solidFill>
                <a:latin typeface="IBM Plex Sans" pitchFamily="34" charset="0"/>
                <a:ea typeface="IBM Plex Sans" pitchFamily="34" charset="-122"/>
                <a:cs typeface="IBM Plex Sans" pitchFamily="34" charset="-120"/>
              </a:rPr>
              <a:t>3</a:t>
            </a:r>
            <a:endParaRPr lang="en-US" sz="1400" dirty="0"/>
          </a:p>
        </p:txBody>
      </p:sp>
      <p:sp>
        <p:nvSpPr>
          <p:cNvPr id="14" name="Text 12"/>
          <p:cNvSpPr/>
          <p:nvPr/>
        </p:nvSpPr>
        <p:spPr>
          <a:xfrm>
            <a:off x="1371600" y="3794760"/>
            <a:ext cx="6858000" cy="457200"/>
          </a:xfrm>
          <a:prstGeom prst="rect">
            <a:avLst/>
          </a:prstGeom>
          <a:noFill/>
          <a:ln/>
        </p:spPr>
        <p:txBody>
          <a:bodyPr wrap="square" lIns="0" tIns="0" rIns="0" bIns="0" rtlCol="0" anchor="ctr"/>
          <a:lstStyle/>
          <a:p>
            <a:pPr indent="0" marL="0">
              <a:buNone/>
            </a:pPr>
            <a:r>
              <a:rPr lang="en-US" sz="1300" dirty="0">
                <a:solidFill>
                  <a:srgbClr val="1A2332"/>
                </a:solidFill>
                <a:latin typeface="IBM Plex Sans" pitchFamily="34" charset="0"/>
                <a:ea typeface="IBM Plex Sans" pitchFamily="34" charset="-122"/>
                <a:cs typeface="IBM Plex Sans" pitchFamily="34" charset="-120"/>
              </a:rPr>
              <a:t>They've concluded that the infrastructure to realize it hasn't been built.</a:t>
            </a:r>
            <a:endParaRPr lang="en-US" sz="1300" dirty="0"/>
          </a:p>
        </p:txBody>
      </p:sp>
      <p:sp>
        <p:nvSpPr>
          <p:cNvPr id="15" name="Text 13"/>
          <p:cNvSpPr/>
          <p:nvPr/>
        </p:nvSpPr>
        <p:spPr>
          <a:xfrm>
            <a:off x="731520" y="4160520"/>
            <a:ext cx="7680960" cy="457200"/>
          </a:xfrm>
          <a:prstGeom prst="rect">
            <a:avLst/>
          </a:prstGeom>
          <a:noFill/>
          <a:ln/>
        </p:spPr>
        <p:txBody>
          <a:bodyPr wrap="square" lIns="0" tIns="0" rIns="0" bIns="0" rtlCol="0" anchor="ctr"/>
          <a:lstStyle/>
          <a:p>
            <a:pPr indent="0" marL="0">
              <a:buNone/>
            </a:pPr>
            <a:r>
              <a:rPr lang="en-US" sz="1300" b="1" dirty="0">
                <a:solidFill>
                  <a:srgbClr val="3B5BDB"/>
                </a:solidFill>
                <a:latin typeface="IBM Plex Sans" pitchFamily="34" charset="0"/>
                <a:ea typeface="IBM Plex Sans" pitchFamily="34" charset="-122"/>
                <a:cs typeface="IBM Plex Sans" pitchFamily="34" charset="-120"/>
              </a:rPr>
              <a:t>The academic establishment confirms: the opportunity is real and the solution doesn't exist. We're building it.</a:t>
            </a:r>
            <a:endParaRPr lang="en-US" sz="1300" dirty="0"/>
          </a:p>
        </p:txBody>
      </p:sp>
      <p:sp>
        <p:nvSpPr>
          <p:cNvPr id="16" name="Text 14"/>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82296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Agents don't need faster checkout.</a:t>
            </a:r>
            <a:endParaRPr lang="en-US" sz="2600" dirty="0"/>
          </a:p>
          <a:p>
            <a:pPr indent="0" marL="0">
              <a:buNone/>
            </a:pPr>
            <a:r>
              <a:rPr lang="en-US" sz="2600" b="1" dirty="0">
                <a:solidFill>
                  <a:srgbClr val="1A2332"/>
                </a:solidFill>
                <a:latin typeface="Space Grotesk" pitchFamily="34" charset="0"/>
                <a:ea typeface="Space Grotesk" pitchFamily="34" charset="-122"/>
                <a:cs typeface="Space Grotesk" pitchFamily="34" charset="-120"/>
              </a:rPr>
              <a:t>They need different infrastructure.</a:t>
            </a:r>
            <a:endParaRPr lang="en-US" sz="2600" dirty="0"/>
          </a:p>
        </p:txBody>
      </p:sp>
      <p:sp>
        <p:nvSpPr>
          <p:cNvPr id="3" name="Text 1"/>
          <p:cNvSpPr/>
          <p:nvPr/>
        </p:nvSpPr>
        <p:spPr>
          <a:xfrm>
            <a:off x="731520" y="1188720"/>
            <a:ext cx="7680960" cy="640080"/>
          </a:xfrm>
          <a:prstGeom prst="rect">
            <a:avLst/>
          </a:prstGeom>
          <a:noFill/>
          <a:ln/>
        </p:spPr>
        <p:txBody>
          <a:bodyPr wrap="square" lIns="0" tIns="0" rIns="0" bIns="0" rtlCol="0" anchor="ctr"/>
          <a:lstStyle/>
          <a:p>
            <a:pPr indent="0" marL="0">
              <a:buNone/>
            </a:pPr>
            <a:r>
              <a:rPr lang="en-US" sz="1200" dirty="0">
                <a:solidFill>
                  <a:srgbClr val="4A5568"/>
                </a:solidFill>
                <a:latin typeface="IBM Plex Sans" pitchFamily="34" charset="0"/>
                <a:ea typeface="IBM Plex Sans" pitchFamily="34" charset="-122"/>
                <a:cs typeface="IBM Plex Sans" pitchFamily="34" charset="-120"/>
              </a:rPr>
              <a:t>In 1994, Pizza Hut took the first online order. The browser didn't create a new channel. It made the entire backend inadequate. New systems had to be built: e-commerce platforms, real-time inventory, digital payments, fulfillment logistics.</a:t>
            </a:r>
            <a:endParaRPr lang="en-US" sz="1200" dirty="0"/>
          </a:p>
        </p:txBody>
      </p:sp>
      <p:sp>
        <p:nvSpPr>
          <p:cNvPr id="4" name="Text 2"/>
          <p:cNvSpPr/>
          <p:nvPr/>
        </p:nvSpPr>
        <p:spPr>
          <a:xfrm>
            <a:off x="731520" y="1874520"/>
            <a:ext cx="7680960" cy="320040"/>
          </a:xfrm>
          <a:prstGeom prst="rect">
            <a:avLst/>
          </a:prstGeom>
          <a:noFill/>
          <a:ln/>
        </p:spPr>
        <p:txBody>
          <a:bodyPr wrap="square" lIns="0" tIns="0" rIns="0" bIns="0" rtlCol="0" anchor="ctr"/>
          <a:lstStyle/>
          <a:p>
            <a:pPr indent="0" marL="0">
              <a:buNone/>
            </a:pPr>
            <a:r>
              <a:rPr lang="en-US" sz="1400" b="1" dirty="0">
                <a:solidFill>
                  <a:srgbClr val="E53E3E"/>
                </a:solidFill>
                <a:latin typeface="IBM Plex Sans" pitchFamily="34" charset="0"/>
                <a:ea typeface="IBM Plex Sans" pitchFamily="34" charset="-122"/>
                <a:cs typeface="IBM Plex Sans" pitchFamily="34" charset="-120"/>
              </a:rPr>
              <a:t>The same mistake is happening now.</a:t>
            </a:r>
            <a:endParaRPr lang="en-US" sz="1400" dirty="0"/>
          </a:p>
        </p:txBody>
      </p:sp>
      <p:sp>
        <p:nvSpPr>
          <p:cNvPr id="5" name="Shape 3"/>
          <p:cNvSpPr/>
          <p:nvPr/>
        </p:nvSpPr>
        <p:spPr>
          <a:xfrm>
            <a:off x="731520" y="2377440"/>
            <a:ext cx="3657600" cy="22860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731520" y="2377440"/>
            <a:ext cx="3657600" cy="54864"/>
          </a:xfrm>
          <a:prstGeom prst="rect">
            <a:avLst/>
          </a:prstGeom>
          <a:solidFill>
            <a:srgbClr val="E53E3E"/>
          </a:solidFill>
          <a:ln/>
        </p:spPr>
      </p:sp>
      <p:sp>
        <p:nvSpPr>
          <p:cNvPr id="7" name="Text 5"/>
          <p:cNvSpPr/>
          <p:nvPr/>
        </p:nvSpPr>
        <p:spPr>
          <a:xfrm>
            <a:off x="914400" y="2560320"/>
            <a:ext cx="3291840" cy="320040"/>
          </a:xfrm>
          <a:prstGeom prst="rect">
            <a:avLst/>
          </a:prstGeom>
          <a:noFill/>
          <a:ln/>
        </p:spPr>
        <p:txBody>
          <a:bodyPr wrap="square" lIns="0" tIns="0" rIns="0" bIns="0" rtlCol="0" anchor="ctr"/>
          <a:lstStyle/>
          <a:p>
            <a:pPr indent="0" marL="0">
              <a:buNone/>
            </a:pPr>
            <a:r>
              <a:rPr lang="en-US" sz="1300" b="1" dirty="0">
                <a:solidFill>
                  <a:srgbClr val="E53E3E"/>
                </a:solidFill>
                <a:latin typeface="IBM Plex Sans" pitchFamily="34" charset="0"/>
                <a:ea typeface="IBM Plex Sans" pitchFamily="34" charset="-122"/>
                <a:cs typeface="IBM Plex Sans" pitchFamily="34" charset="-120"/>
              </a:rPr>
              <a:t>What the industry is building</a:t>
            </a:r>
            <a:endParaRPr lang="en-US" sz="1300" dirty="0"/>
          </a:p>
        </p:txBody>
      </p:sp>
      <p:sp>
        <p:nvSpPr>
          <p:cNvPr id="8" name="Text 6"/>
          <p:cNvSpPr/>
          <p:nvPr/>
        </p:nvSpPr>
        <p:spPr>
          <a:xfrm>
            <a:off x="914400" y="2971800"/>
            <a:ext cx="3291840" cy="1554480"/>
          </a:xfrm>
          <a:prstGeom prst="rect">
            <a:avLst/>
          </a:prstGeom>
          <a:noFill/>
          <a:ln/>
        </p:spPr>
        <p:txBody>
          <a:bodyPr wrap="square" lIns="0" tIns="0" rIns="0" bIns="0" rtlCol="0" anchor="ctr"/>
          <a:lstStyle/>
          <a:p>
            <a:pPr algn="ctr" indent="0" marL="0">
              <a:buNone/>
            </a:pPr>
            <a:r>
              <a:rPr lang="en-US" sz="1200" b="1" dirty="0">
                <a:solidFill>
                  <a:srgbClr val="1A2332"/>
                </a:solidFill>
              </a:rPr>
              <a:t>Agent as new front-end</a:t>
            </a:r>
            <a:endParaRPr lang="en-US" sz="1200" dirty="0"/>
          </a:p>
          <a:p>
            <a:pPr algn="ctr" indent="0" marL="0">
              <a:buNone/>
            </a:pPr>
            <a:r>
              <a:rPr lang="en-US" sz="1200" dirty="0">
                <a:solidFill>
                  <a:srgbClr val="718096"/>
                </a:solidFill>
              </a:rPr>
              <a:t>↓</a:t>
            </a:r>
            <a:endParaRPr lang="en-US" sz="1200" dirty="0"/>
          </a:p>
          <a:p>
            <a:pPr algn="ctr" indent="0" marL="0">
              <a:buNone/>
            </a:pPr>
            <a:r>
              <a:rPr lang="en-US" sz="1200" dirty="0">
                <a:solidFill>
                  <a:srgbClr val="4A5568"/>
                </a:solidFill>
              </a:rPr>
              <a:t>Same e-commerce stack</a:t>
            </a:r>
            <a:endParaRPr lang="en-US" sz="1200" dirty="0"/>
          </a:p>
          <a:p>
            <a:pPr algn="ctr" indent="0" marL="0">
              <a:buNone/>
            </a:pPr>
            <a:r>
              <a:rPr lang="en-US" sz="1100" dirty="0">
                <a:solidFill>
                  <a:srgbClr val="718096"/>
                </a:solidFill>
              </a:rPr>
              <a:t>(websites, shopping carts, checkout flows)</a:t>
            </a:r>
            <a:endParaRPr lang="en-US" sz="1200" dirty="0"/>
          </a:p>
          <a:p>
            <a:pPr algn="ctr" indent="0" marL="0">
              <a:buNone/>
            </a:pPr>
            <a:endParaRPr lang="en-US" sz="1200" dirty="0"/>
          </a:p>
          <a:p>
            <a:pPr algn="ctr" indent="0" marL="0">
              <a:buNone/>
            </a:pPr>
            <a:r>
              <a:rPr lang="en-US" sz="1200" i="1" dirty="0">
                <a:solidFill>
                  <a:srgbClr val="E53E3E"/>
                </a:solidFill>
              </a:rPr>
              <a:t>New channel, same backend.</a:t>
            </a:r>
            <a:endParaRPr lang="en-US" sz="1200" dirty="0"/>
          </a:p>
        </p:txBody>
      </p:sp>
      <p:sp>
        <p:nvSpPr>
          <p:cNvPr id="9" name="Shape 7"/>
          <p:cNvSpPr/>
          <p:nvPr/>
        </p:nvSpPr>
        <p:spPr>
          <a:xfrm>
            <a:off x="4754880" y="2377440"/>
            <a:ext cx="3657600" cy="22860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Shape 8"/>
          <p:cNvSpPr/>
          <p:nvPr/>
        </p:nvSpPr>
        <p:spPr>
          <a:xfrm>
            <a:off x="4754880" y="2377440"/>
            <a:ext cx="3657600" cy="54864"/>
          </a:xfrm>
          <a:prstGeom prst="rect">
            <a:avLst/>
          </a:prstGeom>
          <a:solidFill>
            <a:srgbClr val="3B5BDB"/>
          </a:solidFill>
          <a:ln/>
        </p:spPr>
      </p:sp>
      <p:sp>
        <p:nvSpPr>
          <p:cNvPr id="11" name="Text 9"/>
          <p:cNvSpPr/>
          <p:nvPr/>
        </p:nvSpPr>
        <p:spPr>
          <a:xfrm>
            <a:off x="4937760" y="2560320"/>
            <a:ext cx="3291840" cy="320040"/>
          </a:xfrm>
          <a:prstGeom prst="rect">
            <a:avLst/>
          </a:prstGeom>
          <a:noFill/>
          <a:ln/>
        </p:spPr>
        <p:txBody>
          <a:bodyPr wrap="square" lIns="0" tIns="0" rIns="0" bIns="0" rtlCol="0" anchor="ctr"/>
          <a:lstStyle/>
          <a:p>
            <a:pPr indent="0" marL="0">
              <a:buNone/>
            </a:pPr>
            <a:r>
              <a:rPr lang="en-US" sz="1300" b="1" dirty="0">
                <a:solidFill>
                  <a:srgbClr val="3B5BDB"/>
                </a:solidFill>
                <a:latin typeface="IBM Plex Sans" pitchFamily="34" charset="0"/>
                <a:ea typeface="IBM Plex Sans" pitchFamily="34" charset="-122"/>
                <a:cs typeface="IBM Plex Sans" pitchFamily="34" charset="-120"/>
              </a:rPr>
              <a:t>What agents actually need</a:t>
            </a:r>
            <a:endParaRPr lang="en-US" sz="1300" dirty="0"/>
          </a:p>
        </p:txBody>
      </p:sp>
      <p:sp>
        <p:nvSpPr>
          <p:cNvPr id="12" name="Text 10"/>
          <p:cNvSpPr/>
          <p:nvPr/>
        </p:nvSpPr>
        <p:spPr>
          <a:xfrm>
            <a:off x="4937760" y="2971800"/>
            <a:ext cx="3291840" cy="1554480"/>
          </a:xfrm>
          <a:prstGeom prst="rect">
            <a:avLst/>
          </a:prstGeom>
          <a:noFill/>
          <a:ln/>
        </p:spPr>
        <p:txBody>
          <a:bodyPr wrap="square" lIns="0" tIns="0" rIns="0" bIns="0" rtlCol="0" anchor="ctr"/>
          <a:lstStyle/>
          <a:p>
            <a:pPr algn="ctr" indent="0" marL="0">
              <a:buNone/>
            </a:pPr>
            <a:r>
              <a:rPr lang="en-US" sz="1200" b="1" dirty="0">
                <a:solidFill>
                  <a:srgbClr val="1A2332"/>
                </a:solidFill>
              </a:rPr>
              <a:t>Agent with structured intent</a:t>
            </a:r>
            <a:endParaRPr lang="en-US" sz="1200" dirty="0"/>
          </a:p>
          <a:p>
            <a:pPr algn="ctr" indent="0" marL="0">
              <a:buNone/>
            </a:pPr>
            <a:r>
              <a:rPr lang="en-US" sz="1200" dirty="0">
                <a:solidFill>
                  <a:srgbClr val="718096"/>
                </a:solidFill>
              </a:rPr>
              <a:t>↓</a:t>
            </a:r>
            <a:endParaRPr lang="en-US" sz="1200" dirty="0"/>
          </a:p>
          <a:p>
            <a:pPr algn="ctr" indent="0" marL="0">
              <a:buNone/>
            </a:pPr>
            <a:r>
              <a:rPr lang="en-US" sz="1200" dirty="0">
                <a:solidFill>
                  <a:srgbClr val="4A5568"/>
                </a:solidFill>
              </a:rPr>
              <a:t>Protocol layer</a:t>
            </a:r>
            <a:endParaRPr lang="en-US" sz="1200" dirty="0"/>
          </a:p>
          <a:p>
            <a:pPr algn="ctr" indent="0" marL="0">
              <a:buNone/>
            </a:pPr>
            <a:r>
              <a:rPr lang="en-US" sz="1100" dirty="0">
                <a:solidFill>
                  <a:srgbClr val="718096"/>
                </a:solidFill>
              </a:rPr>
              <a:t>(discovery, negotiation, trust, fulfillment)</a:t>
            </a:r>
            <a:endParaRPr lang="en-US" sz="1200" dirty="0"/>
          </a:p>
          <a:p>
            <a:pPr algn="ctr" indent="0" marL="0">
              <a:buNone/>
            </a:pPr>
            <a:endParaRPr lang="en-US" sz="1200" dirty="0"/>
          </a:p>
          <a:p>
            <a:pPr algn="ctr" indent="0" marL="0">
              <a:buNone/>
            </a:pPr>
            <a:r>
              <a:rPr lang="en-US" sz="1200" i="1" dirty="0">
                <a:solidFill>
                  <a:srgbClr val="3B5BDB"/>
                </a:solidFill>
              </a:rPr>
              <a:t>New infrastructure for new capabilities.</a:t>
            </a:r>
            <a:endParaRPr lang="en-US" sz="1200" dirty="0"/>
          </a:p>
        </p:txBody>
      </p:sp>
      <p:sp>
        <p:nvSpPr>
          <p:cNvPr id="13" name="Text 11"/>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73152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Entire categories of commerce</a:t>
            </a:r>
            <a:endParaRPr lang="en-US" sz="2600" dirty="0"/>
          </a:p>
          <a:p>
            <a:pPr indent="0" marL="0">
              <a:buNone/>
            </a:pPr>
            <a:r>
              <a:rPr lang="en-US" sz="2600" b="1" dirty="0">
                <a:solidFill>
                  <a:srgbClr val="1A2332"/>
                </a:solidFill>
                <a:latin typeface="Space Grotesk" pitchFamily="34" charset="0"/>
                <a:ea typeface="Space Grotesk" pitchFamily="34" charset="-122"/>
                <a:cs typeface="Space Grotesk" pitchFamily="34" charset="-120"/>
              </a:rPr>
              <a:t>have zero protocol coverage.</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828800"/>
                <a:gridCol w="777240"/>
                <a:gridCol w="777240"/>
                <a:gridCol w="777240"/>
                <a:gridCol w="777240"/>
                <a:gridCol w="777240"/>
                <a:gridCol w="777240"/>
                <a:gridCol w="822960"/>
              </a:tblGrid>
              <a:tr h="301752">
                <a:tc>
                  <a:txBody>
                    <a:bodyPr/>
                    <a:lstStyle/>
                    <a:p>
                      <a:pPr algn="l" indent="0" marL="0">
                        <a:buNone/>
                      </a:pPr>
                      <a:r>
                        <a:rPr lang="en-US" sz="1000" b="1" dirty="0">
                          <a:solidFill>
                            <a:srgbClr val="FFFFFF"/>
                          </a:solidFill>
                        </a:rPr>
                        <a:t>Commerce Phase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1000" b="1" dirty="0">
                          <a:solidFill>
                            <a:srgbClr val="FFFFFF"/>
                          </a:solidFill>
                        </a:rPr>
                        <a:t>MCP</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1000" b="1" dirty="0">
                          <a:solidFill>
                            <a:srgbClr val="FFFFFF"/>
                          </a:solidFill>
                        </a:rPr>
                        <a:t>A2A</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1000" b="1" dirty="0">
                          <a:solidFill>
                            <a:srgbClr val="FFFFFF"/>
                          </a:solidFill>
                        </a:rPr>
                        <a:t>UCP</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1000" b="1" dirty="0">
                          <a:solidFill>
                            <a:srgbClr val="FFFFFF"/>
                          </a:solidFill>
                        </a:rPr>
                        <a:t>AP2</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1000" b="1" dirty="0">
                          <a:solidFill>
                            <a:srgbClr val="FFFFFF"/>
                          </a:solidFill>
                        </a:rPr>
                        <a:t>x402</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1000" b="1" dirty="0">
                          <a:solidFill>
                            <a:srgbClr val="FFFFFF"/>
                          </a:solidFill>
                        </a:rPr>
                        <a:t>TAP</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1000" b="1" dirty="0">
                          <a:solidFill>
                            <a:srgbClr val="FFFFFF"/>
                          </a:solidFill>
                        </a:rPr>
                        <a:t>AURA</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B5BDB"/>
                    </a:solidFill>
                  </a:tcPr>
                </a:tc>
              </a:tr>
              <a:tr h="301752">
                <a:tc>
                  <a:txBody>
                    <a:bodyPr/>
                    <a:lstStyle/>
                    <a:p>
                      <a:pPr algn="l" indent="0" marL="0">
                        <a:buNone/>
                      </a:pPr>
                      <a:r>
                        <a:rPr lang="en-US" sz="1000" b="1" dirty="0">
                          <a:solidFill>
                            <a:srgbClr val="3B5BDB"/>
                          </a:solidFill>
                        </a:rPr>
                        <a:t>Discovery &amp; Matching</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D69E2E"/>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algn="l" indent="0" marL="0">
                        <a:buNone/>
                      </a:pPr>
                      <a:r>
                        <a:rPr lang="en-US" sz="1000" b="1" dirty="0">
                          <a:solidFill>
                            <a:srgbClr val="3B5BDB"/>
                          </a:solidFill>
                        </a:rPr>
                        <a:t>Values-based Matching</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algn="l" indent="0" marL="0">
                        <a:buNone/>
                      </a:pPr>
                      <a:r>
                        <a:rPr lang="en-US" sz="1000" b="1" dirty="0">
                          <a:solidFill>
                            <a:srgbClr val="3B5BDB"/>
                          </a:solidFill>
                        </a:rPr>
                        <a:t>Constraint Satisfaction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algn="l" indent="0" marL="0">
                        <a:buNone/>
                      </a:pPr>
                      <a:r>
                        <a:rPr lang="en-US" sz="1000" b="1" dirty="0">
                          <a:solidFill>
                            <a:srgbClr val="3B5BDB"/>
                          </a:solidFill>
                        </a:rPr>
                        <a:t>Autonomous Negotiation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algn="l" indent="0" marL="0">
                        <a:buNone/>
                      </a:pPr>
                      <a:r>
                        <a:rPr lang="en-US" sz="1000" b="1" dirty="0">
                          <a:solidFill>
                            <a:srgbClr val="3B5BDB"/>
                          </a:solidFill>
                        </a:rPr>
                        <a:t>Behavioral Reputation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algn="l" indent="0" marL="0">
                        <a:buNone/>
                      </a:pPr>
                      <a:r>
                        <a:rPr lang="en-US" sz="1000" b="1" dirty="0">
                          <a:solidFill>
                            <a:srgbClr val="3B5BDB"/>
                          </a:solidFill>
                        </a:rPr>
                        <a:t>Neutral Brokering</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algn="l" indent="0" marL="0">
                        <a:buNone/>
                      </a:pPr>
                      <a:r>
                        <a:rPr lang="en-US" sz="1000" dirty="0">
                          <a:solidFill>
                            <a:srgbClr val="1A2332"/>
                          </a:solidFill>
                        </a:rPr>
                        <a:t>Agent Communication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D69E2E"/>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algn="l" indent="0" marL="0">
                        <a:buNone/>
                      </a:pPr>
                      <a:r>
                        <a:rPr lang="en-US" sz="1000" dirty="0">
                          <a:solidFill>
                            <a:srgbClr val="1A2332"/>
                          </a:solidFill>
                        </a:rPr>
                        <a:t>Payment Execution</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D69E2E"/>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D69E2E"/>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algn="l" indent="0" marL="0">
                        <a:buNone/>
                      </a:pPr>
                      <a:r>
                        <a:rPr lang="en-US" sz="1000" dirty="0">
                          <a:solidFill>
                            <a:srgbClr val="1A2332"/>
                          </a:solidFill>
                        </a:rPr>
                        <a:t>Consent &amp; Identity</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D69E2E"/>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718096"/>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D69E2E"/>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38A169"/>
                          </a:solidFill>
                        </a:rPr>
                        <a: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4" name="Text 1"/>
          <p:cNvSpPr/>
          <p:nvPr/>
        </p:nvSpPr>
        <p:spPr>
          <a:xfrm>
            <a:off x="457200" y="4023360"/>
            <a:ext cx="2743200" cy="274320"/>
          </a:xfrm>
          <a:prstGeom prst="rect">
            <a:avLst/>
          </a:prstGeom>
          <a:noFill/>
          <a:ln/>
        </p:spPr>
        <p:txBody>
          <a:bodyPr wrap="square" lIns="0" tIns="0" rIns="0" bIns="0" rtlCol="0" anchor="ctr"/>
          <a:lstStyle/>
          <a:p>
            <a:pPr indent="0" marL="0">
              <a:buNone/>
            </a:pPr>
            <a:r>
              <a:rPr lang="en-US" sz="900" dirty="0">
                <a:solidFill>
                  <a:srgbClr val="718096"/>
                </a:solidFill>
                <a:latin typeface="IBM Plex Sans" pitchFamily="34" charset="0"/>
                <a:ea typeface="IBM Plex Sans" pitchFamily="34" charset="-122"/>
                <a:cs typeface="IBM Plex Sans" pitchFamily="34" charset="-120"/>
              </a:rPr>
              <a:t>● Covered   ◐ Partial   — Absent</a:t>
            </a:r>
            <a:endParaRPr lang="en-US" sz="900" dirty="0"/>
          </a:p>
        </p:txBody>
      </p:sp>
      <p:sp>
        <p:nvSpPr>
          <p:cNvPr id="5" name="Text 2"/>
          <p:cNvSpPr/>
          <p:nvPr/>
        </p:nvSpPr>
        <p:spPr>
          <a:xfrm>
            <a:off x="457200" y="4114800"/>
            <a:ext cx="8229600" cy="320040"/>
          </a:xfrm>
          <a:prstGeom prst="rect">
            <a:avLst/>
          </a:prstGeom>
          <a:noFill/>
          <a:ln/>
        </p:spPr>
        <p:txBody>
          <a:bodyPr wrap="square" lIns="0" tIns="0" rIns="0" bIns="0" rtlCol="0" anchor="ctr"/>
          <a:lstStyle/>
          <a:p>
            <a:pPr indent="0" marL="0">
              <a:buNone/>
            </a:pPr>
            <a:r>
              <a:rPr lang="en-US" sz="1000" b="1" dirty="0">
                <a:solidFill>
                  <a:srgbClr val="1A2332"/>
                </a:solidFill>
              </a:rPr>
              <a:t>Consumer: </a:t>
            </a:r>
            <a:pPr indent="0" marL="0">
              <a:buNone/>
            </a:pPr>
            <a:r>
              <a:rPr lang="en-US" sz="1000" i="1" dirty="0">
                <a:solidFill>
                  <a:srgbClr val="4A5568"/>
                </a:solidFill>
              </a:rPr>
              <a:t>"Which of 10,000 merchants best satisfies: sustainable, ships to my address, under €75, available in blue, &gt;4-star worker treatment?"</a:t>
            </a:r>
            <a:endParaRPr lang="en-US" sz="1000" dirty="0"/>
          </a:p>
        </p:txBody>
      </p:sp>
      <p:sp>
        <p:nvSpPr>
          <p:cNvPr id="6" name="Text 3"/>
          <p:cNvSpPr/>
          <p:nvPr/>
        </p:nvSpPr>
        <p:spPr>
          <a:xfrm>
            <a:off x="457200" y="4434840"/>
            <a:ext cx="8229600" cy="320040"/>
          </a:xfrm>
          <a:prstGeom prst="rect">
            <a:avLst/>
          </a:prstGeom>
          <a:noFill/>
          <a:ln/>
        </p:spPr>
        <p:txBody>
          <a:bodyPr wrap="square" lIns="0" tIns="0" rIns="0" bIns="0" rtlCol="0" anchor="ctr"/>
          <a:lstStyle/>
          <a:p>
            <a:pPr indent="0" marL="0">
              <a:buNone/>
            </a:pPr>
            <a:r>
              <a:rPr lang="en-US" sz="1000" b="1" dirty="0">
                <a:solidFill>
                  <a:srgbClr val="1A2332"/>
                </a:solidFill>
              </a:rPr>
              <a:t>B2B: </a:t>
            </a:r>
            <a:pPr indent="0" marL="0">
              <a:buNone/>
            </a:pPr>
            <a:r>
              <a:rPr lang="en-US" sz="1000" i="1" dirty="0">
                <a:solidFill>
                  <a:srgbClr val="4A5568"/>
                </a:solidFill>
              </a:rPr>
              <a:t>"Which of 5,000 suppliers meets spec for 316L stainless steel fasteners, ISO 13485, Munich delivery in 4 weeks, NET-60, 50K units/month, &gt;98% on-time?"</a:t>
            </a:r>
            <a:endParaRPr lang="en-US" sz="1000" dirty="0"/>
          </a:p>
        </p:txBody>
      </p:sp>
      <p:sp>
        <p:nvSpPr>
          <p:cNvPr id="7" name="Text 4"/>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Commerce needs a referee, not another player.</a:t>
            </a:r>
            <a:endParaRPr lang="en-US" sz="2600" dirty="0"/>
          </a:p>
        </p:txBody>
      </p:sp>
      <p:sp>
        <p:nvSpPr>
          <p:cNvPr id="3" name="Shape 1"/>
          <p:cNvSpPr/>
          <p:nvPr/>
        </p:nvSpPr>
        <p:spPr>
          <a:xfrm>
            <a:off x="731520" y="1051560"/>
            <a:ext cx="3657600" cy="29260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Shape 2"/>
          <p:cNvSpPr/>
          <p:nvPr/>
        </p:nvSpPr>
        <p:spPr>
          <a:xfrm>
            <a:off x="731520" y="1051560"/>
            <a:ext cx="3657600" cy="54864"/>
          </a:xfrm>
          <a:prstGeom prst="rect">
            <a:avLst/>
          </a:prstGeom>
          <a:solidFill>
            <a:srgbClr val="E53E3E"/>
          </a:solidFill>
          <a:ln/>
        </p:spPr>
      </p:sp>
      <p:sp>
        <p:nvSpPr>
          <p:cNvPr id="5" name="Text 3"/>
          <p:cNvSpPr/>
          <p:nvPr/>
        </p:nvSpPr>
        <p:spPr>
          <a:xfrm>
            <a:off x="914400" y="1234440"/>
            <a:ext cx="3291840" cy="274320"/>
          </a:xfrm>
          <a:prstGeom prst="rect">
            <a:avLst/>
          </a:prstGeom>
          <a:noFill/>
          <a:ln/>
        </p:spPr>
        <p:txBody>
          <a:bodyPr wrap="square" lIns="0" tIns="0" rIns="0" bIns="0" rtlCol="0" anchor="ctr"/>
          <a:lstStyle/>
          <a:p>
            <a:pPr indent="0" marL="0">
              <a:buNone/>
            </a:pPr>
            <a:r>
              <a:rPr lang="en-US" sz="1500" b="1" dirty="0">
                <a:solidFill>
                  <a:srgbClr val="E53E3E"/>
                </a:solidFill>
                <a:latin typeface="IBM Plex Sans" pitchFamily="34" charset="0"/>
                <a:ea typeface="IBM Plex Sans" pitchFamily="34" charset="-122"/>
                <a:cs typeface="IBM Plex Sans" pitchFamily="34" charset="-120"/>
              </a:rPr>
              <a:t>Platform-Centric</a:t>
            </a:r>
            <a:endParaRPr lang="en-US" sz="1500" dirty="0"/>
          </a:p>
        </p:txBody>
      </p:sp>
      <p:sp>
        <p:nvSpPr>
          <p:cNvPr id="6" name="Text 4"/>
          <p:cNvSpPr/>
          <p:nvPr/>
        </p:nvSpPr>
        <p:spPr>
          <a:xfrm>
            <a:off x="914400" y="1600200"/>
            <a:ext cx="3291840" cy="2194560"/>
          </a:xfrm>
          <a:prstGeom prst="rect">
            <a:avLst/>
          </a:prstGeom>
          <a:noFill/>
          <a:ln/>
        </p:spPr>
        <p:txBody>
          <a:bodyPr wrap="square" lIns="0" tIns="0" rIns="0" bIns="0" rtlCol="0" anchor="ctr"/>
          <a:lstStyle/>
          <a:p>
            <a:pPr indent="0" marL="0">
              <a:buNone/>
            </a:pPr>
            <a:r>
              <a:rPr lang="en-US" sz="1100" dirty="0">
                <a:solidFill>
                  <a:srgbClr val="4A5568"/>
                </a:solidFill>
              </a:rPr>
              <a:t>Google UCP routes through Google.</a:t>
            </a:r>
            <a:endParaRPr lang="en-US" sz="1100" dirty="0"/>
          </a:p>
          <a:p>
            <a:pPr indent="0" marL="0">
              <a:buNone/>
            </a:pPr>
            <a:r>
              <a:rPr lang="en-US" sz="1100" dirty="0">
                <a:solidFill>
                  <a:srgbClr val="4A5568"/>
                </a:solidFill>
              </a:rPr>
              <a:t>ACP routes through ChatGPT.</a:t>
            </a:r>
            <a:endParaRPr lang="en-US" sz="1100" dirty="0"/>
          </a:p>
          <a:p>
            <a:pPr indent="0" marL="0">
              <a:buNone/>
            </a:pPr>
            <a:r>
              <a:rPr lang="en-US" sz="1100" dirty="0">
                <a:solidFill>
                  <a:srgbClr val="4A5568"/>
                </a:solidFill>
              </a:rPr>
              <a:t>Alipay Protocol routes through Alipay.</a:t>
            </a:r>
            <a:endParaRPr lang="en-US" sz="1100" dirty="0"/>
          </a:p>
          <a:p>
            <a:pPr indent="0" marL="0">
              <a:buNone/>
            </a:pPr>
            <a:endParaRPr lang="en-US" sz="1100" dirty="0"/>
          </a:p>
          <a:p>
            <a:pPr indent="0" marL="0">
              <a:buNone/>
            </a:pPr>
            <a:r>
              <a:rPr lang="en-US" sz="1100" b="1" dirty="0">
                <a:solidFill>
                  <a:srgbClr val="1A2332"/>
                </a:solidFill>
              </a:rPr>
              <a:t>The platform that controls discovery controls the economics.</a:t>
            </a:r>
            <a:endParaRPr lang="en-US" sz="1100" dirty="0"/>
          </a:p>
          <a:p>
            <a:pPr indent="0" marL="0">
              <a:buNone/>
            </a:pPr>
            <a:endParaRPr lang="en-US" sz="1100" dirty="0"/>
          </a:p>
          <a:p>
            <a:pPr indent="0" marL="0">
              <a:buNone/>
            </a:pPr>
            <a:r>
              <a:rPr lang="en-US" sz="1100" dirty="0">
                <a:solidFill>
                  <a:srgbClr val="4A5568"/>
                </a:solidFill>
              </a:rPr>
              <a:t>Both UCP and ACP externalize the commodity work (checkout) while internalizing the valuable work (discovery, matching, ranking).</a:t>
            </a:r>
            <a:endParaRPr lang="en-US" sz="1100" dirty="0"/>
          </a:p>
          <a:p>
            <a:pPr indent="0" marL="0">
              <a:buNone/>
            </a:pPr>
            <a:endParaRPr lang="en-US" sz="1100" dirty="0"/>
          </a:p>
          <a:p>
            <a:pPr indent="0" marL="0">
              <a:buNone/>
            </a:pPr>
            <a:r>
              <a:rPr lang="en-US" sz="1100" i="1" dirty="0">
                <a:solidFill>
                  <a:srgbClr val="E53E3E"/>
                </a:solidFill>
              </a:rPr>
              <a:t>The "open standard" starts after the commercially valuable decision has already been made.</a:t>
            </a:r>
            <a:endParaRPr lang="en-US" sz="1100" dirty="0"/>
          </a:p>
        </p:txBody>
      </p:sp>
      <p:sp>
        <p:nvSpPr>
          <p:cNvPr id="7" name="Shape 5"/>
          <p:cNvSpPr/>
          <p:nvPr/>
        </p:nvSpPr>
        <p:spPr>
          <a:xfrm>
            <a:off x="4754880" y="1051560"/>
            <a:ext cx="3657600" cy="29260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8" name="Shape 6"/>
          <p:cNvSpPr/>
          <p:nvPr/>
        </p:nvSpPr>
        <p:spPr>
          <a:xfrm>
            <a:off x="4754880" y="1051560"/>
            <a:ext cx="3657600" cy="54864"/>
          </a:xfrm>
          <a:prstGeom prst="rect">
            <a:avLst/>
          </a:prstGeom>
          <a:solidFill>
            <a:srgbClr val="3B5BDB"/>
          </a:solidFill>
          <a:ln/>
        </p:spPr>
      </p:sp>
      <p:sp>
        <p:nvSpPr>
          <p:cNvPr id="9" name="Text 7"/>
          <p:cNvSpPr/>
          <p:nvPr/>
        </p:nvSpPr>
        <p:spPr>
          <a:xfrm>
            <a:off x="4937760" y="1234440"/>
            <a:ext cx="3291840" cy="274320"/>
          </a:xfrm>
          <a:prstGeom prst="rect">
            <a:avLst/>
          </a:prstGeom>
          <a:noFill/>
          <a:ln/>
        </p:spPr>
        <p:txBody>
          <a:bodyPr wrap="square" lIns="0" tIns="0" rIns="0" bIns="0" rtlCol="0" anchor="ctr"/>
          <a:lstStyle/>
          <a:p>
            <a:pPr indent="0" marL="0">
              <a:buNone/>
            </a:pPr>
            <a:r>
              <a:rPr lang="en-US" sz="1500" b="1" dirty="0">
                <a:solidFill>
                  <a:srgbClr val="3B5BDB"/>
                </a:solidFill>
                <a:latin typeface="IBM Plex Sans" pitchFamily="34" charset="0"/>
                <a:ea typeface="IBM Plex Sans" pitchFamily="34" charset="-122"/>
                <a:cs typeface="IBM Plex Sans" pitchFamily="34" charset="-120"/>
              </a:rPr>
              <a:t>Protocol-Neutral (AURA)</a:t>
            </a:r>
            <a:endParaRPr lang="en-US" sz="1500" dirty="0"/>
          </a:p>
        </p:txBody>
      </p:sp>
      <p:sp>
        <p:nvSpPr>
          <p:cNvPr id="10" name="Text 8"/>
          <p:cNvSpPr/>
          <p:nvPr/>
        </p:nvSpPr>
        <p:spPr>
          <a:xfrm>
            <a:off x="4937760" y="1600200"/>
            <a:ext cx="3291840" cy="2194560"/>
          </a:xfrm>
          <a:prstGeom prst="rect">
            <a:avLst/>
          </a:prstGeom>
          <a:noFill/>
          <a:ln/>
        </p:spPr>
        <p:txBody>
          <a:bodyPr wrap="square" lIns="0" tIns="0" rIns="0" bIns="0" rtlCol="0" anchor="ctr"/>
          <a:lstStyle/>
          <a:p>
            <a:pPr indent="0" marL="0">
              <a:buNone/>
            </a:pPr>
            <a:r>
              <a:rPr lang="en-US" sz="1100" dirty="0">
                <a:solidFill>
                  <a:srgbClr val="4A5568"/>
                </a:solidFill>
              </a:rPr>
              <a:t>AURA Core sits as a neutral broker.</a:t>
            </a:r>
            <a:endParaRPr lang="en-US" sz="1100" dirty="0"/>
          </a:p>
          <a:p>
            <a:pPr indent="0" marL="0">
              <a:buNone/>
            </a:pPr>
            <a:r>
              <a:rPr lang="en-US" sz="1100" dirty="0">
                <a:solidFill>
                  <a:srgbClr val="4A5568"/>
                </a:solidFill>
              </a:rPr>
              <a:t>Scouts represent buyers. Beacons represent sellers.</a:t>
            </a:r>
            <a:endParaRPr lang="en-US" sz="1100" dirty="0"/>
          </a:p>
          <a:p>
            <a:pPr indent="0" marL="0">
              <a:buNone/>
            </a:pPr>
            <a:endParaRPr lang="en-US" sz="1100" dirty="0"/>
          </a:p>
          <a:p>
            <a:pPr indent="0" marL="0">
              <a:buNone/>
            </a:pPr>
            <a:r>
              <a:rPr lang="en-US" sz="1100" b="1" dirty="0">
                <a:solidFill>
                  <a:srgbClr val="1A2332"/>
                </a:solidFill>
              </a:rPr>
              <a:t>The broker's incentive structure is decoupled from merchant outcomes.</a:t>
            </a:r>
            <a:endParaRPr lang="en-US" sz="1100" dirty="0"/>
          </a:p>
          <a:p>
            <a:pPr indent="0" marL="0">
              <a:buNone/>
            </a:pPr>
            <a:endParaRPr lang="en-US" sz="1100" dirty="0"/>
          </a:p>
          <a:p>
            <a:pPr indent="0" marL="0">
              <a:buNone/>
            </a:pPr>
            <a:r>
              <a:rPr lang="en-US" sz="1100" dirty="0">
                <a:solidFill>
                  <a:srgbClr val="4A5568"/>
                </a:solidFill>
              </a:rPr>
              <a:t>Discovery, matching, and negotiation happen in a trust layer that no single platform controls.</a:t>
            </a:r>
            <a:endParaRPr lang="en-US" sz="1100" dirty="0"/>
          </a:p>
          <a:p>
            <a:pPr indent="0" marL="0">
              <a:buNone/>
            </a:pPr>
            <a:endParaRPr lang="en-US" sz="1100" dirty="0"/>
          </a:p>
          <a:p>
            <a:pPr indent="0" marL="0">
              <a:buNone/>
            </a:pPr>
            <a:r>
              <a:rPr lang="en-US" sz="1100" i="1" dirty="0">
                <a:solidFill>
                  <a:srgbClr val="3B5BDB"/>
                </a:solidFill>
              </a:rPr>
              <a:t>Open market. Neutral referee.</a:t>
            </a:r>
            <a:endParaRPr lang="en-US" sz="1100" dirty="0"/>
          </a:p>
        </p:txBody>
      </p:sp>
      <p:sp>
        <p:nvSpPr>
          <p:cNvPr id="11" name="Text 9"/>
          <p:cNvSpPr/>
          <p:nvPr/>
        </p:nvSpPr>
        <p:spPr>
          <a:xfrm>
            <a:off x="731520" y="4114800"/>
            <a:ext cx="7680960" cy="457200"/>
          </a:xfrm>
          <a:prstGeom prst="rect">
            <a:avLst/>
          </a:prstGeom>
          <a:noFill/>
          <a:ln/>
        </p:spPr>
        <p:txBody>
          <a:bodyPr wrap="square" lIns="0" tIns="0" rIns="0" bIns="0" rtlCol="0" anchor="ctr"/>
          <a:lstStyle/>
          <a:p>
            <a:pPr indent="0" marL="0">
              <a:buNone/>
            </a:pPr>
            <a:r>
              <a:rPr lang="en-US" sz="1400" b="1" i="1" dirty="0">
                <a:solidFill>
                  <a:srgbClr val="3B5BDB"/>
                </a:solidFill>
                <a:latin typeface="Space Grotesk" pitchFamily="34" charset="0"/>
                <a:ea typeface="Space Grotesk" pitchFamily="34" charset="-122"/>
                <a:cs typeface="Space Grotesk" pitchFamily="34" charset="-120"/>
              </a:rPr>
              <a:t>"Gemini is an agent for Google. Not you." </a:t>
            </a:r>
            <a:pPr indent="0" marL="0">
              <a:buNone/>
            </a:pPr>
            <a:r>
              <a:rPr lang="en-US" sz="1400" b="1" dirty="0">
                <a:solidFill>
                  <a:srgbClr val="1A2332"/>
                </a:solidFill>
                <a:latin typeface="Space Grotesk" pitchFamily="34" charset="0"/>
                <a:ea typeface="Space Grotesk" pitchFamily="34" charset="-122"/>
                <a:cs typeface="Space Grotesk" pitchFamily="34" charset="-120"/>
              </a:rPr>
              <a:t> Whose agent is it?</a:t>
            </a:r>
            <a:endParaRPr lang="en-US" sz="1400" dirty="0"/>
          </a:p>
        </p:txBody>
      </p:sp>
      <p:sp>
        <p:nvSpPr>
          <p:cNvPr id="12" name="Text 10"/>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Three components. One protocol.</a:t>
            </a:r>
            <a:endParaRPr lang="en-US" sz="2600" dirty="0"/>
          </a:p>
        </p:txBody>
      </p:sp>
      <p:sp>
        <p:nvSpPr>
          <p:cNvPr id="3" name="Shape 1"/>
          <p:cNvSpPr/>
          <p:nvPr/>
        </p:nvSpPr>
        <p:spPr>
          <a:xfrm>
            <a:off x="731520" y="1005840"/>
            <a:ext cx="2377440" cy="19202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Shape 2"/>
          <p:cNvSpPr/>
          <p:nvPr/>
        </p:nvSpPr>
        <p:spPr>
          <a:xfrm>
            <a:off x="731520" y="1005840"/>
            <a:ext cx="2377440" cy="54864"/>
          </a:xfrm>
          <a:prstGeom prst="rect">
            <a:avLst/>
          </a:prstGeom>
          <a:solidFill>
            <a:srgbClr val="3B5BDB"/>
          </a:solidFill>
          <a:ln/>
        </p:spPr>
      </p:sp>
      <p:pic>
        <p:nvPicPr>
          <p:cNvPr id="5" name="Image 0" descr="preencoded.png">    </p:cNvPr>
          <p:cNvPicPr>
            <a:picLocks noChangeAspect="1"/>
          </p:cNvPicPr>
          <p:nvPr/>
        </p:nvPicPr>
        <p:blipFill>
          <a:blip r:embed="rId1"/>
          <a:stretch>
            <a:fillRect/>
          </a:stretch>
        </p:blipFill>
        <p:spPr>
          <a:xfrm>
            <a:off x="914400" y="1234440"/>
            <a:ext cx="320040" cy="320040"/>
          </a:xfrm>
          <a:prstGeom prst="rect">
            <a:avLst/>
          </a:prstGeom>
        </p:spPr>
      </p:pic>
      <p:sp>
        <p:nvSpPr>
          <p:cNvPr id="6" name="Text 3"/>
          <p:cNvSpPr/>
          <p:nvPr/>
        </p:nvSpPr>
        <p:spPr>
          <a:xfrm>
            <a:off x="1325880" y="1234440"/>
            <a:ext cx="1600200" cy="320040"/>
          </a:xfrm>
          <a:prstGeom prst="rect">
            <a:avLst/>
          </a:prstGeom>
          <a:noFill/>
          <a:ln/>
        </p:spPr>
        <p:txBody>
          <a:bodyPr wrap="square" lIns="0" tIns="0" rIns="0" bIns="0" rtlCol="0" anchor="ctr"/>
          <a:lstStyle/>
          <a:p>
            <a:pPr indent="0" marL="0">
              <a:buNone/>
            </a:pPr>
            <a:r>
              <a:rPr lang="en-US" sz="1600" b="1" dirty="0">
                <a:solidFill>
                  <a:srgbClr val="3B5BDB"/>
                </a:solidFill>
                <a:latin typeface="IBM Plex Sans" pitchFamily="34" charset="0"/>
                <a:ea typeface="IBM Plex Sans" pitchFamily="34" charset="-122"/>
                <a:cs typeface="IBM Plex Sans" pitchFamily="34" charset="-120"/>
              </a:rPr>
              <a:t>Scout</a:t>
            </a:r>
            <a:endParaRPr lang="en-US" sz="1600" dirty="0"/>
          </a:p>
        </p:txBody>
      </p:sp>
      <p:sp>
        <p:nvSpPr>
          <p:cNvPr id="7" name="Text 4"/>
          <p:cNvSpPr/>
          <p:nvPr/>
        </p:nvSpPr>
        <p:spPr>
          <a:xfrm>
            <a:off x="914400" y="1737360"/>
            <a:ext cx="2011680" cy="100584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User-sovereign buying agent. Expresses intent in natural language. Operates within user-defined constraints.</a:t>
            </a:r>
            <a:endParaRPr lang="en-US" sz="1100" dirty="0"/>
          </a:p>
        </p:txBody>
      </p:sp>
      <p:sp>
        <p:nvSpPr>
          <p:cNvPr id="8" name="Text 5"/>
          <p:cNvSpPr/>
          <p:nvPr/>
        </p:nvSpPr>
        <p:spPr>
          <a:xfrm>
            <a:off x="3108960" y="1645920"/>
            <a:ext cx="320040" cy="457200"/>
          </a:xfrm>
          <a:prstGeom prst="rect">
            <a:avLst/>
          </a:prstGeom>
          <a:noFill/>
          <a:ln/>
        </p:spPr>
        <p:txBody>
          <a:bodyPr wrap="square" lIns="0" tIns="0" rIns="0" bIns="0" rtlCol="0" anchor="ctr"/>
          <a:lstStyle/>
          <a:p>
            <a:pPr algn="ctr" indent="0" marL="0">
              <a:buNone/>
            </a:pPr>
            <a:r>
              <a:rPr lang="en-US" sz="2000" dirty="0">
                <a:solidFill>
                  <a:srgbClr val="3B5BDB"/>
                </a:solidFill>
              </a:rPr>
              <a:t>→</a:t>
            </a:r>
            <a:endParaRPr lang="en-US" sz="2000" dirty="0"/>
          </a:p>
        </p:txBody>
      </p:sp>
      <p:sp>
        <p:nvSpPr>
          <p:cNvPr id="9" name="Shape 6"/>
          <p:cNvSpPr/>
          <p:nvPr/>
        </p:nvSpPr>
        <p:spPr>
          <a:xfrm>
            <a:off x="3429000" y="1005840"/>
            <a:ext cx="2377440" cy="19202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Shape 7"/>
          <p:cNvSpPr/>
          <p:nvPr/>
        </p:nvSpPr>
        <p:spPr>
          <a:xfrm>
            <a:off x="3429000" y="1005840"/>
            <a:ext cx="2377440" cy="54864"/>
          </a:xfrm>
          <a:prstGeom prst="rect">
            <a:avLst/>
          </a:prstGeom>
          <a:solidFill>
            <a:srgbClr val="1A2332"/>
          </a:solidFill>
          <a:ln/>
        </p:spPr>
      </p:sp>
      <p:pic>
        <p:nvPicPr>
          <p:cNvPr id="11" name="Image 1" descr="preencoded.png">    </p:cNvPr>
          <p:cNvPicPr>
            <a:picLocks noChangeAspect="1"/>
          </p:cNvPicPr>
          <p:nvPr/>
        </p:nvPicPr>
        <p:blipFill>
          <a:blip r:embed="rId2"/>
          <a:stretch>
            <a:fillRect/>
          </a:stretch>
        </p:blipFill>
        <p:spPr>
          <a:xfrm>
            <a:off x="3611880" y="1234440"/>
            <a:ext cx="320040" cy="320040"/>
          </a:xfrm>
          <a:prstGeom prst="rect">
            <a:avLst/>
          </a:prstGeom>
        </p:spPr>
      </p:pic>
      <p:sp>
        <p:nvSpPr>
          <p:cNvPr id="12" name="Text 8"/>
          <p:cNvSpPr/>
          <p:nvPr/>
        </p:nvSpPr>
        <p:spPr>
          <a:xfrm>
            <a:off x="4023360" y="1234440"/>
            <a:ext cx="1600200" cy="32004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AURA Core</a:t>
            </a:r>
            <a:endParaRPr lang="en-US" sz="1600" dirty="0"/>
          </a:p>
        </p:txBody>
      </p:sp>
      <p:sp>
        <p:nvSpPr>
          <p:cNvPr id="13" name="Text 9"/>
          <p:cNvSpPr/>
          <p:nvPr/>
        </p:nvSpPr>
        <p:spPr>
          <a:xfrm>
            <a:off x="3611880" y="1737360"/>
            <a:ext cx="2011680" cy="100584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Neutral broker. Parses intent, matches Beacons, manages negotiation, enforces consent. Not a marketplace.</a:t>
            </a:r>
            <a:endParaRPr lang="en-US" sz="1100" dirty="0"/>
          </a:p>
        </p:txBody>
      </p:sp>
      <p:sp>
        <p:nvSpPr>
          <p:cNvPr id="14" name="Text 10"/>
          <p:cNvSpPr/>
          <p:nvPr/>
        </p:nvSpPr>
        <p:spPr>
          <a:xfrm>
            <a:off x="5806440" y="1645920"/>
            <a:ext cx="320040" cy="457200"/>
          </a:xfrm>
          <a:prstGeom prst="rect">
            <a:avLst/>
          </a:prstGeom>
          <a:noFill/>
          <a:ln/>
        </p:spPr>
        <p:txBody>
          <a:bodyPr wrap="square" lIns="0" tIns="0" rIns="0" bIns="0" rtlCol="0" anchor="ctr"/>
          <a:lstStyle/>
          <a:p>
            <a:pPr algn="ctr" indent="0" marL="0">
              <a:buNone/>
            </a:pPr>
            <a:r>
              <a:rPr lang="en-US" sz="2000" dirty="0">
                <a:solidFill>
                  <a:srgbClr val="3B5BDB"/>
                </a:solidFill>
              </a:rPr>
              <a:t>→</a:t>
            </a:r>
            <a:endParaRPr lang="en-US" sz="2000" dirty="0"/>
          </a:p>
        </p:txBody>
      </p:sp>
      <p:sp>
        <p:nvSpPr>
          <p:cNvPr id="15" name="Shape 11"/>
          <p:cNvSpPr/>
          <p:nvPr/>
        </p:nvSpPr>
        <p:spPr>
          <a:xfrm>
            <a:off x="6126480" y="1005840"/>
            <a:ext cx="2377440" cy="19202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Shape 12"/>
          <p:cNvSpPr/>
          <p:nvPr/>
        </p:nvSpPr>
        <p:spPr>
          <a:xfrm>
            <a:off x="6126480" y="1005840"/>
            <a:ext cx="2377440" cy="54864"/>
          </a:xfrm>
          <a:prstGeom prst="rect">
            <a:avLst/>
          </a:prstGeom>
          <a:solidFill>
            <a:srgbClr val="6C5CE7"/>
          </a:solidFill>
          <a:ln/>
        </p:spPr>
      </p:sp>
      <p:pic>
        <p:nvPicPr>
          <p:cNvPr id="17" name="Image 2" descr="preencoded.png">    </p:cNvPr>
          <p:cNvPicPr>
            <a:picLocks noChangeAspect="1"/>
          </p:cNvPicPr>
          <p:nvPr/>
        </p:nvPicPr>
        <p:blipFill>
          <a:blip r:embed="rId3"/>
          <a:stretch>
            <a:fillRect/>
          </a:stretch>
        </p:blipFill>
        <p:spPr>
          <a:xfrm>
            <a:off x="6309360" y="1234440"/>
            <a:ext cx="320040" cy="320040"/>
          </a:xfrm>
          <a:prstGeom prst="rect">
            <a:avLst/>
          </a:prstGeom>
        </p:spPr>
      </p:pic>
      <p:sp>
        <p:nvSpPr>
          <p:cNvPr id="18" name="Text 13"/>
          <p:cNvSpPr/>
          <p:nvPr/>
        </p:nvSpPr>
        <p:spPr>
          <a:xfrm>
            <a:off x="6720840" y="1234440"/>
            <a:ext cx="1600200" cy="320040"/>
          </a:xfrm>
          <a:prstGeom prst="rect">
            <a:avLst/>
          </a:prstGeom>
          <a:noFill/>
          <a:ln/>
        </p:spPr>
        <p:txBody>
          <a:bodyPr wrap="square" lIns="0" tIns="0" rIns="0" bIns="0" rtlCol="0" anchor="ctr"/>
          <a:lstStyle/>
          <a:p>
            <a:pPr indent="0" marL="0">
              <a:buNone/>
            </a:pPr>
            <a:r>
              <a:rPr lang="en-US" sz="1600" b="1" dirty="0">
                <a:solidFill>
                  <a:srgbClr val="6C5CE7"/>
                </a:solidFill>
                <a:latin typeface="IBM Plex Sans" pitchFamily="34" charset="0"/>
                <a:ea typeface="IBM Plex Sans" pitchFamily="34" charset="-122"/>
                <a:cs typeface="IBM Plex Sans" pitchFamily="34" charset="-120"/>
              </a:rPr>
              <a:t>Beacon</a:t>
            </a:r>
            <a:endParaRPr lang="en-US" sz="1600" dirty="0"/>
          </a:p>
        </p:txBody>
      </p:sp>
      <p:sp>
        <p:nvSpPr>
          <p:cNvPr id="19" name="Text 14"/>
          <p:cNvSpPr/>
          <p:nvPr/>
        </p:nvSpPr>
        <p:spPr>
          <a:xfrm>
            <a:off x="6309360" y="1737360"/>
            <a:ext cx="2011680" cy="100584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Seller agent. Registers capabilities. Responds within merchant policies. Integrates with existing systems.</a:t>
            </a:r>
            <a:endParaRPr lang="en-US" sz="1100" dirty="0"/>
          </a:p>
        </p:txBody>
      </p:sp>
      <p:sp>
        <p:nvSpPr>
          <p:cNvPr id="20" name="Shape 15"/>
          <p:cNvSpPr/>
          <p:nvPr/>
        </p:nvSpPr>
        <p:spPr>
          <a:xfrm>
            <a:off x="731520" y="3200400"/>
            <a:ext cx="7680960" cy="16002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1" name="Text 16"/>
          <p:cNvSpPr/>
          <p:nvPr/>
        </p:nvSpPr>
        <p:spPr>
          <a:xfrm>
            <a:off x="914400" y="3291840"/>
            <a:ext cx="2743200" cy="320040"/>
          </a:xfrm>
          <a:prstGeom prst="rect">
            <a:avLst/>
          </a:prstGeom>
          <a:noFill/>
          <a:ln/>
        </p:spPr>
        <p:txBody>
          <a:bodyPr wrap="square" lIns="0" tIns="0" rIns="0" bIns="0" rtlCol="0" anchor="ctr"/>
          <a:lstStyle/>
          <a:p>
            <a:pPr indent="0" marL="0">
              <a:buNone/>
            </a:pPr>
            <a:r>
              <a:rPr lang="en-US" sz="1400" b="1" dirty="0">
                <a:solidFill>
                  <a:srgbClr val="3B5BDB"/>
                </a:solidFill>
                <a:latin typeface="IBM Plex Sans" pitchFamily="34" charset="0"/>
                <a:ea typeface="IBM Plex Sans" pitchFamily="34" charset="-122"/>
                <a:cs typeface="IBM Plex Sans" pitchFamily="34" charset="-120"/>
              </a:rPr>
              <a:t>The Flow</a:t>
            </a:r>
            <a:endParaRPr lang="en-US" sz="1400" dirty="0"/>
          </a:p>
        </p:txBody>
      </p:sp>
      <p:sp>
        <p:nvSpPr>
          <p:cNvPr id="22" name="Text 17"/>
          <p:cNvSpPr/>
          <p:nvPr/>
        </p:nvSpPr>
        <p:spPr>
          <a:xfrm>
            <a:off x="914400" y="3657600"/>
            <a:ext cx="3657600" cy="256032"/>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1. User tells Scout what they want (natural language)</a:t>
            </a:r>
            <a:endParaRPr lang="en-US" sz="1000" dirty="0"/>
          </a:p>
        </p:txBody>
      </p:sp>
      <p:sp>
        <p:nvSpPr>
          <p:cNvPr id="23" name="Text 18"/>
          <p:cNvSpPr/>
          <p:nvPr/>
        </p:nvSpPr>
        <p:spPr>
          <a:xfrm>
            <a:off x="914400" y="3931920"/>
            <a:ext cx="3657600" cy="256032"/>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2. Scout sends structured intent to Core</a:t>
            </a:r>
            <a:endParaRPr lang="en-US" sz="1000" dirty="0"/>
          </a:p>
        </p:txBody>
      </p:sp>
      <p:sp>
        <p:nvSpPr>
          <p:cNvPr id="24" name="Text 19"/>
          <p:cNvSpPr/>
          <p:nvPr/>
        </p:nvSpPr>
        <p:spPr>
          <a:xfrm>
            <a:off x="914400" y="4206240"/>
            <a:ext cx="3657600" cy="256032"/>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3. Core matches against registered Beacons</a:t>
            </a:r>
            <a:endParaRPr lang="en-US" sz="1000" dirty="0"/>
          </a:p>
        </p:txBody>
      </p:sp>
      <p:sp>
        <p:nvSpPr>
          <p:cNvPr id="25" name="Text 20"/>
          <p:cNvSpPr/>
          <p:nvPr/>
        </p:nvSpPr>
        <p:spPr>
          <a:xfrm>
            <a:off x="914400" y="4480560"/>
            <a:ext cx="3657600" cy="256032"/>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4. Beacons respond with propositions</a:t>
            </a:r>
            <a:endParaRPr lang="en-US" sz="1000" dirty="0"/>
          </a:p>
        </p:txBody>
      </p:sp>
      <p:sp>
        <p:nvSpPr>
          <p:cNvPr id="26" name="Text 21"/>
          <p:cNvSpPr/>
          <p:nvPr/>
        </p:nvSpPr>
        <p:spPr>
          <a:xfrm>
            <a:off x="4754880" y="3657600"/>
            <a:ext cx="3657600" cy="256032"/>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5. Scout evaluates and ranks propositions</a:t>
            </a:r>
            <a:endParaRPr lang="en-US" sz="1000" dirty="0"/>
          </a:p>
        </p:txBody>
      </p:sp>
      <p:sp>
        <p:nvSpPr>
          <p:cNvPr id="27" name="Text 22"/>
          <p:cNvSpPr/>
          <p:nvPr/>
        </p:nvSpPr>
        <p:spPr>
          <a:xfrm>
            <a:off x="4754880" y="3931920"/>
            <a:ext cx="3657600" cy="256032"/>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6. Best match presented to user</a:t>
            </a:r>
            <a:endParaRPr lang="en-US" sz="1000" dirty="0"/>
          </a:p>
        </p:txBody>
      </p:sp>
      <p:sp>
        <p:nvSpPr>
          <p:cNvPr id="28" name="Text 23"/>
          <p:cNvSpPr/>
          <p:nvPr/>
        </p:nvSpPr>
        <p:spPr>
          <a:xfrm>
            <a:off x="4754880" y="4206240"/>
            <a:ext cx="3657600" cy="256032"/>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7. Transaction executes with consent at every step</a:t>
            </a:r>
            <a:endParaRPr lang="en-US" sz="1000" dirty="0"/>
          </a:p>
        </p:txBody>
      </p:sp>
      <p:sp>
        <p:nvSpPr>
          <p:cNvPr id="29" name="Text 24"/>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Built on established theory. Not speculation.</a:t>
            </a:r>
            <a:endParaRPr lang="en-US" sz="2600" dirty="0"/>
          </a:p>
        </p:txBody>
      </p:sp>
      <p:sp>
        <p:nvSpPr>
          <p:cNvPr id="3" name="Shape 1"/>
          <p:cNvSpPr/>
          <p:nvPr/>
        </p:nvSpPr>
        <p:spPr>
          <a:xfrm>
            <a:off x="731520" y="1005840"/>
            <a:ext cx="3657600" cy="14173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Shape 2"/>
          <p:cNvSpPr/>
          <p:nvPr/>
        </p:nvSpPr>
        <p:spPr>
          <a:xfrm>
            <a:off x="731520" y="1005840"/>
            <a:ext cx="54864" cy="1417320"/>
          </a:xfrm>
          <a:prstGeom prst="rect">
            <a:avLst/>
          </a:prstGeom>
          <a:solidFill>
            <a:srgbClr val="3B5BDB"/>
          </a:solidFill>
          <a:ln/>
        </p:spPr>
      </p:sp>
      <p:sp>
        <p:nvSpPr>
          <p:cNvPr id="5" name="Text 3"/>
          <p:cNvSpPr/>
          <p:nvPr/>
        </p:nvSpPr>
        <p:spPr>
          <a:xfrm>
            <a:off x="960120" y="1143000"/>
            <a:ext cx="3246120" cy="274320"/>
          </a:xfrm>
          <a:prstGeom prst="rect">
            <a:avLst/>
          </a:prstGeom>
          <a:noFill/>
          <a:ln/>
        </p:spPr>
        <p:txBody>
          <a:bodyPr wrap="square" lIns="0" tIns="0" rIns="0" bIns="0" rtlCol="0" anchor="ctr"/>
          <a:lstStyle/>
          <a:p>
            <a:pPr indent="0" marL="0">
              <a:buNone/>
            </a:pPr>
            <a:r>
              <a:rPr lang="en-US" sz="1400" b="1" dirty="0">
                <a:solidFill>
                  <a:srgbClr val="1A2332"/>
                </a:solidFill>
                <a:latin typeface="IBM Plex Sans" pitchFamily="34" charset="0"/>
                <a:ea typeface="IBM Plex Sans" pitchFamily="34" charset="-122"/>
                <a:cs typeface="IBM Plex Sans" pitchFamily="34" charset="-120"/>
              </a:rPr>
              <a:t>Matching Market Design</a:t>
            </a:r>
            <a:endParaRPr lang="en-US" sz="1400" dirty="0"/>
          </a:p>
        </p:txBody>
      </p:sp>
      <p:sp>
        <p:nvSpPr>
          <p:cNvPr id="6" name="Text 4"/>
          <p:cNvSpPr/>
          <p:nvPr/>
        </p:nvSpPr>
        <p:spPr>
          <a:xfrm>
            <a:off x="960120" y="1417320"/>
            <a:ext cx="3246120" cy="228600"/>
          </a:xfrm>
          <a:prstGeom prst="rect">
            <a:avLst/>
          </a:prstGeom>
          <a:noFill/>
          <a:ln/>
        </p:spPr>
        <p:txBody>
          <a:bodyPr wrap="square" lIns="0" tIns="0" rIns="0" bIns="0" rtlCol="0" anchor="ctr"/>
          <a:lstStyle/>
          <a:p>
            <a:pPr indent="0" marL="0">
              <a:buNone/>
            </a:pPr>
            <a:r>
              <a:rPr lang="en-US" sz="1000" i="1" dirty="0">
                <a:solidFill>
                  <a:srgbClr val="3B5BDB"/>
                </a:solidFill>
                <a:latin typeface="IBM Plex Sans" pitchFamily="34" charset="0"/>
                <a:ea typeface="IBM Plex Sans" pitchFamily="34" charset="-122"/>
                <a:cs typeface="IBM Plex Sans" pitchFamily="34" charset="-120"/>
              </a:rPr>
              <a:t>Roth (2012 Nobel)</a:t>
            </a:r>
            <a:endParaRPr lang="en-US" sz="1000" dirty="0"/>
          </a:p>
        </p:txBody>
      </p:sp>
      <p:sp>
        <p:nvSpPr>
          <p:cNvPr id="7" name="Text 5"/>
          <p:cNvSpPr/>
          <p:nvPr/>
        </p:nvSpPr>
        <p:spPr>
          <a:xfrm>
            <a:off x="960120" y="1691640"/>
            <a:ext cx="3246120" cy="64008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AURA Core as matching mechanism. Commerce as matching problem, not commodity market.</a:t>
            </a:r>
            <a:endParaRPr lang="en-US" sz="1100" dirty="0"/>
          </a:p>
        </p:txBody>
      </p:sp>
      <p:sp>
        <p:nvSpPr>
          <p:cNvPr id="8" name="Shape 6"/>
          <p:cNvSpPr/>
          <p:nvPr/>
        </p:nvSpPr>
        <p:spPr>
          <a:xfrm>
            <a:off x="4754880" y="1005840"/>
            <a:ext cx="3657600" cy="14173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9" name="Shape 7"/>
          <p:cNvSpPr/>
          <p:nvPr/>
        </p:nvSpPr>
        <p:spPr>
          <a:xfrm>
            <a:off x="4754880" y="1005840"/>
            <a:ext cx="54864" cy="1417320"/>
          </a:xfrm>
          <a:prstGeom prst="rect">
            <a:avLst/>
          </a:prstGeom>
          <a:solidFill>
            <a:srgbClr val="3B5BDB"/>
          </a:solidFill>
          <a:ln/>
        </p:spPr>
      </p:sp>
      <p:sp>
        <p:nvSpPr>
          <p:cNvPr id="10" name="Text 8"/>
          <p:cNvSpPr/>
          <p:nvPr/>
        </p:nvSpPr>
        <p:spPr>
          <a:xfrm>
            <a:off x="4983480" y="1143000"/>
            <a:ext cx="3246120" cy="274320"/>
          </a:xfrm>
          <a:prstGeom prst="rect">
            <a:avLst/>
          </a:prstGeom>
          <a:noFill/>
          <a:ln/>
        </p:spPr>
        <p:txBody>
          <a:bodyPr wrap="square" lIns="0" tIns="0" rIns="0" bIns="0" rtlCol="0" anchor="ctr"/>
          <a:lstStyle/>
          <a:p>
            <a:pPr indent="0" marL="0">
              <a:buNone/>
            </a:pPr>
            <a:r>
              <a:rPr lang="en-US" sz="1400" b="1" dirty="0">
                <a:solidFill>
                  <a:srgbClr val="1A2332"/>
                </a:solidFill>
                <a:latin typeface="IBM Plex Sans" pitchFamily="34" charset="0"/>
                <a:ea typeface="IBM Plex Sans" pitchFamily="34" charset="-122"/>
                <a:cs typeface="IBM Plex Sans" pitchFamily="34" charset="-120"/>
              </a:rPr>
              <a:t>Information Asymmetry</a:t>
            </a:r>
            <a:endParaRPr lang="en-US" sz="1400" dirty="0"/>
          </a:p>
        </p:txBody>
      </p:sp>
      <p:sp>
        <p:nvSpPr>
          <p:cNvPr id="11" name="Text 9"/>
          <p:cNvSpPr/>
          <p:nvPr/>
        </p:nvSpPr>
        <p:spPr>
          <a:xfrm>
            <a:off x="4983480" y="1417320"/>
            <a:ext cx="3246120" cy="228600"/>
          </a:xfrm>
          <a:prstGeom prst="rect">
            <a:avLst/>
          </a:prstGeom>
          <a:noFill/>
          <a:ln/>
        </p:spPr>
        <p:txBody>
          <a:bodyPr wrap="square" lIns="0" tIns="0" rIns="0" bIns="0" rtlCol="0" anchor="ctr"/>
          <a:lstStyle/>
          <a:p>
            <a:pPr indent="0" marL="0">
              <a:buNone/>
            </a:pPr>
            <a:r>
              <a:rPr lang="en-US" sz="1000" i="1" dirty="0">
                <a:solidFill>
                  <a:srgbClr val="3B5BDB"/>
                </a:solidFill>
                <a:latin typeface="IBM Plex Sans" pitchFamily="34" charset="0"/>
                <a:ea typeface="IBM Plex Sans" pitchFamily="34" charset="-122"/>
                <a:cs typeface="IBM Plex Sans" pitchFamily="34" charset="-120"/>
              </a:rPr>
              <a:t>Akerlof (1970 Nobel)</a:t>
            </a:r>
            <a:endParaRPr lang="en-US" sz="1000" dirty="0"/>
          </a:p>
        </p:txBody>
      </p:sp>
      <p:sp>
        <p:nvSpPr>
          <p:cNvPr id="12" name="Text 10"/>
          <p:cNvSpPr/>
          <p:nvPr/>
        </p:nvSpPr>
        <p:spPr>
          <a:xfrm>
            <a:off x="4983480" y="1691640"/>
            <a:ext cx="3246120" cy="64008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Trust and reputation systems solve adverse selection between agents.</a:t>
            </a:r>
            <a:endParaRPr lang="en-US" sz="1100" dirty="0"/>
          </a:p>
        </p:txBody>
      </p:sp>
      <p:sp>
        <p:nvSpPr>
          <p:cNvPr id="13" name="Shape 11"/>
          <p:cNvSpPr/>
          <p:nvPr/>
        </p:nvSpPr>
        <p:spPr>
          <a:xfrm>
            <a:off x="731520" y="2697480"/>
            <a:ext cx="3657600" cy="14173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Shape 12"/>
          <p:cNvSpPr/>
          <p:nvPr/>
        </p:nvSpPr>
        <p:spPr>
          <a:xfrm>
            <a:off x="731520" y="2697480"/>
            <a:ext cx="54864" cy="1417320"/>
          </a:xfrm>
          <a:prstGeom prst="rect">
            <a:avLst/>
          </a:prstGeom>
          <a:solidFill>
            <a:srgbClr val="3B5BDB"/>
          </a:solidFill>
          <a:ln/>
        </p:spPr>
      </p:sp>
      <p:sp>
        <p:nvSpPr>
          <p:cNvPr id="15" name="Text 13"/>
          <p:cNvSpPr/>
          <p:nvPr/>
        </p:nvSpPr>
        <p:spPr>
          <a:xfrm>
            <a:off x="960120" y="2834640"/>
            <a:ext cx="3246120" cy="274320"/>
          </a:xfrm>
          <a:prstGeom prst="rect">
            <a:avLst/>
          </a:prstGeom>
          <a:noFill/>
          <a:ln/>
        </p:spPr>
        <p:txBody>
          <a:bodyPr wrap="square" lIns="0" tIns="0" rIns="0" bIns="0" rtlCol="0" anchor="ctr"/>
          <a:lstStyle/>
          <a:p>
            <a:pPr indent="0" marL="0">
              <a:buNone/>
            </a:pPr>
            <a:r>
              <a:rPr lang="en-US" sz="1400" b="1" dirty="0">
                <a:solidFill>
                  <a:srgbClr val="1A2332"/>
                </a:solidFill>
                <a:latin typeface="IBM Plex Sans" pitchFamily="34" charset="0"/>
                <a:ea typeface="IBM Plex Sans" pitchFamily="34" charset="-122"/>
                <a:cs typeface="IBM Plex Sans" pitchFamily="34" charset="-120"/>
              </a:rPr>
              <a:t>Transaction Cost Economics</a:t>
            </a:r>
            <a:endParaRPr lang="en-US" sz="1400" dirty="0"/>
          </a:p>
        </p:txBody>
      </p:sp>
      <p:sp>
        <p:nvSpPr>
          <p:cNvPr id="16" name="Text 14"/>
          <p:cNvSpPr/>
          <p:nvPr/>
        </p:nvSpPr>
        <p:spPr>
          <a:xfrm>
            <a:off x="960120" y="3108960"/>
            <a:ext cx="3246120" cy="228600"/>
          </a:xfrm>
          <a:prstGeom prst="rect">
            <a:avLst/>
          </a:prstGeom>
          <a:noFill/>
          <a:ln/>
        </p:spPr>
        <p:txBody>
          <a:bodyPr wrap="square" lIns="0" tIns="0" rIns="0" bIns="0" rtlCol="0" anchor="ctr"/>
          <a:lstStyle/>
          <a:p>
            <a:pPr indent="0" marL="0">
              <a:buNone/>
            </a:pPr>
            <a:r>
              <a:rPr lang="en-US" sz="1000" i="1" dirty="0">
                <a:solidFill>
                  <a:srgbClr val="3B5BDB"/>
                </a:solidFill>
                <a:latin typeface="IBM Plex Sans" pitchFamily="34" charset="0"/>
                <a:ea typeface="IBM Plex Sans" pitchFamily="34" charset="-122"/>
                <a:cs typeface="IBM Plex Sans" pitchFamily="34" charset="-120"/>
              </a:rPr>
              <a:t>Coase / Williamson</a:t>
            </a:r>
            <a:endParaRPr lang="en-US" sz="1000" dirty="0"/>
          </a:p>
        </p:txBody>
      </p:sp>
      <p:sp>
        <p:nvSpPr>
          <p:cNvPr id="17" name="Text 15"/>
          <p:cNvSpPr/>
          <p:nvPr/>
        </p:nvSpPr>
        <p:spPr>
          <a:xfrm>
            <a:off x="960120" y="3383280"/>
            <a:ext cx="3246120" cy="64008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Agents reduce search, information, and bargaining costs. B2B procurement is the massive opportunity.</a:t>
            </a:r>
            <a:endParaRPr lang="en-US" sz="1100" dirty="0"/>
          </a:p>
        </p:txBody>
      </p:sp>
      <p:sp>
        <p:nvSpPr>
          <p:cNvPr id="18" name="Shape 16"/>
          <p:cNvSpPr/>
          <p:nvPr/>
        </p:nvSpPr>
        <p:spPr>
          <a:xfrm>
            <a:off x="4754880" y="2697480"/>
            <a:ext cx="3657600" cy="14173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9" name="Shape 17"/>
          <p:cNvSpPr/>
          <p:nvPr/>
        </p:nvSpPr>
        <p:spPr>
          <a:xfrm>
            <a:off x="4754880" y="2697480"/>
            <a:ext cx="54864" cy="1417320"/>
          </a:xfrm>
          <a:prstGeom prst="rect">
            <a:avLst/>
          </a:prstGeom>
          <a:solidFill>
            <a:srgbClr val="3B5BDB"/>
          </a:solidFill>
          <a:ln/>
        </p:spPr>
      </p:sp>
      <p:sp>
        <p:nvSpPr>
          <p:cNvPr id="20" name="Text 18"/>
          <p:cNvSpPr/>
          <p:nvPr/>
        </p:nvSpPr>
        <p:spPr>
          <a:xfrm>
            <a:off x="4983480" y="2834640"/>
            <a:ext cx="3246120" cy="274320"/>
          </a:xfrm>
          <a:prstGeom prst="rect">
            <a:avLst/>
          </a:prstGeom>
          <a:noFill/>
          <a:ln/>
        </p:spPr>
        <p:txBody>
          <a:bodyPr wrap="square" lIns="0" tIns="0" rIns="0" bIns="0" rtlCol="0" anchor="ctr"/>
          <a:lstStyle/>
          <a:p>
            <a:pPr indent="0" marL="0">
              <a:buNone/>
            </a:pPr>
            <a:r>
              <a:rPr lang="en-US" sz="1400" b="1" dirty="0">
                <a:solidFill>
                  <a:srgbClr val="1A2332"/>
                </a:solidFill>
                <a:latin typeface="IBM Plex Sans" pitchFamily="34" charset="0"/>
                <a:ea typeface="IBM Plex Sans" pitchFamily="34" charset="-122"/>
                <a:cs typeface="IBM Plex Sans" pitchFamily="34" charset="-120"/>
              </a:rPr>
              <a:t>Cooperation Theory</a:t>
            </a:r>
            <a:endParaRPr lang="en-US" sz="1400" dirty="0"/>
          </a:p>
        </p:txBody>
      </p:sp>
      <p:sp>
        <p:nvSpPr>
          <p:cNvPr id="21" name="Text 19"/>
          <p:cNvSpPr/>
          <p:nvPr/>
        </p:nvSpPr>
        <p:spPr>
          <a:xfrm>
            <a:off x="4983480" y="3108960"/>
            <a:ext cx="3246120" cy="228600"/>
          </a:xfrm>
          <a:prstGeom prst="rect">
            <a:avLst/>
          </a:prstGeom>
          <a:noFill/>
          <a:ln/>
        </p:spPr>
        <p:txBody>
          <a:bodyPr wrap="square" lIns="0" tIns="0" rIns="0" bIns="0" rtlCol="0" anchor="ctr"/>
          <a:lstStyle/>
          <a:p>
            <a:pPr indent="0" marL="0">
              <a:buNone/>
            </a:pPr>
            <a:r>
              <a:rPr lang="en-US" sz="1000" i="1" dirty="0">
                <a:solidFill>
                  <a:srgbClr val="3B5BDB"/>
                </a:solidFill>
                <a:latin typeface="IBM Plex Sans" pitchFamily="34" charset="0"/>
                <a:ea typeface="IBM Plex Sans" pitchFamily="34" charset="-122"/>
                <a:cs typeface="IBM Plex Sans" pitchFamily="34" charset="-120"/>
              </a:rPr>
              <a:t>Axelrod (1984)</a:t>
            </a:r>
            <a:endParaRPr lang="en-US" sz="1000" dirty="0"/>
          </a:p>
        </p:txBody>
      </p:sp>
      <p:sp>
        <p:nvSpPr>
          <p:cNvPr id="22" name="Text 20"/>
          <p:cNvSpPr/>
          <p:nvPr/>
        </p:nvSpPr>
        <p:spPr>
          <a:xfrm>
            <a:off x="4983480" y="3383280"/>
            <a:ext cx="3246120" cy="64008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Protocol rewards honest participation. "Nice" agents outperform exploitative ones.</a:t>
            </a:r>
            <a:endParaRPr lang="en-US" sz="1100" dirty="0"/>
          </a:p>
        </p:txBody>
      </p:sp>
      <p:sp>
        <p:nvSpPr>
          <p:cNvPr id="23" name="Text 21"/>
          <p:cNvSpPr/>
          <p:nvPr/>
        </p:nvSpPr>
        <p:spPr>
          <a:xfrm>
            <a:off x="731520" y="4343400"/>
            <a:ext cx="7680960" cy="457200"/>
          </a:xfrm>
          <a:prstGeom prst="rect">
            <a:avLst/>
          </a:prstGeom>
          <a:noFill/>
          <a:ln/>
        </p:spPr>
        <p:txBody>
          <a:bodyPr wrap="square" lIns="0" tIns="0" rIns="0" bIns="0" rtlCol="0" anchor="ctr"/>
          <a:lstStyle/>
          <a:p>
            <a:pPr indent="0" marL="0">
              <a:buNone/>
            </a:pPr>
            <a:r>
              <a:rPr lang="en-US" sz="1300" b="1" i="1" dirty="0">
                <a:solidFill>
                  <a:srgbClr val="3B5BDB"/>
                </a:solidFill>
                <a:latin typeface="IBM Plex Sans" pitchFamily="34" charset="0"/>
                <a:ea typeface="IBM Plex Sans" pitchFamily="34" charset="-122"/>
                <a:cs typeface="IBM Plex Sans" pitchFamily="34" charset="-120"/>
              </a:rPr>
              <a:t>Agents as authentic extensions of human values, not optimization engines.</a:t>
            </a:r>
            <a:endParaRPr lang="en-US" sz="1300" dirty="0"/>
          </a:p>
        </p:txBody>
      </p:sp>
      <p:sp>
        <p:nvSpPr>
          <p:cNvPr id="24" name="Text 22"/>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Working infrastructure. Not a pitch.</a:t>
            </a:r>
            <a:endParaRPr lang="en-US" sz="2600" dirty="0"/>
          </a:p>
        </p:txBody>
      </p:sp>
      <p:sp>
        <p:nvSpPr>
          <p:cNvPr id="3" name="Shape 1"/>
          <p:cNvSpPr/>
          <p:nvPr/>
        </p:nvSpPr>
        <p:spPr>
          <a:xfrm>
            <a:off x="457200" y="1005840"/>
            <a:ext cx="2651760" cy="37490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2651760" cy="54864"/>
          </a:xfrm>
          <a:prstGeom prst="rect">
            <a:avLst/>
          </a:prstGeom>
          <a:solidFill>
            <a:srgbClr val="3B5BDB"/>
          </a:solidFill>
          <a:ln/>
        </p:spPr>
      </p:sp>
      <p:sp>
        <p:nvSpPr>
          <p:cNvPr id="5" name="Text 3"/>
          <p:cNvSpPr/>
          <p:nvPr/>
        </p:nvSpPr>
        <p:spPr>
          <a:xfrm>
            <a:off x="640080" y="1188720"/>
            <a:ext cx="2286000" cy="320040"/>
          </a:xfrm>
          <a:prstGeom prst="rect">
            <a:avLst/>
          </a:prstGeom>
          <a:noFill/>
          <a:ln/>
        </p:spPr>
        <p:txBody>
          <a:bodyPr wrap="square" lIns="0" tIns="0" rIns="0" bIns="0" rtlCol="0" anchor="ctr"/>
          <a:lstStyle/>
          <a:p>
            <a:pPr indent="0" marL="0">
              <a:buNone/>
            </a:pPr>
            <a:r>
              <a:rPr lang="en-US" sz="1400" b="1" dirty="0">
                <a:solidFill>
                  <a:srgbClr val="3B5BDB"/>
                </a:solidFill>
                <a:latin typeface="IBM Plex Sans" pitchFamily="34" charset="0"/>
                <a:ea typeface="IBM Plex Sans" pitchFamily="34" charset="-122"/>
                <a:cs typeface="IBM Plex Sans" pitchFamily="34" charset="-120"/>
              </a:rPr>
              <a:t>Infrastructure</a:t>
            </a:r>
            <a:endParaRPr lang="en-US" sz="1400" dirty="0"/>
          </a:p>
        </p:txBody>
      </p:sp>
      <p:sp>
        <p:nvSpPr>
          <p:cNvPr id="6" name="Text 4"/>
          <p:cNvSpPr/>
          <p:nvPr/>
        </p:nvSpPr>
        <p:spPr>
          <a:xfrm>
            <a:off x="640080" y="1600200"/>
            <a:ext cx="2286000" cy="3017520"/>
          </a:xfrm>
          <a:prstGeom prst="rect">
            <a:avLst/>
          </a:prstGeom>
          <a:noFill/>
          <a:ln/>
        </p:spPr>
        <p:txBody>
          <a:bodyPr wrap="square" lIns="0" tIns="0" rIns="0" bIns="0" rtlCol="0" anchor="ctr"/>
          <a:lstStyle/>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AURA Core API deployed and live</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Scout SDK shipped (Feb 2026)</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Beacon SDK shipped (Feb 2026)</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MCP server integration live</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Chrome extension MVP</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Ed25519 universal agent identity</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114 tests passing</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Protocol spec (RFC-style, 2,252 lines)</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Developer portal at aura-labs.ai</a:t>
            </a:r>
            <a:endParaRPr lang="en-US" sz="1050" dirty="0"/>
          </a:p>
        </p:txBody>
      </p:sp>
      <p:sp>
        <p:nvSpPr>
          <p:cNvPr id="7" name="Shape 5"/>
          <p:cNvSpPr/>
          <p:nvPr/>
        </p:nvSpPr>
        <p:spPr>
          <a:xfrm>
            <a:off x="3383280" y="1005840"/>
            <a:ext cx="2651760" cy="37490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8" name="Shape 6"/>
          <p:cNvSpPr/>
          <p:nvPr/>
        </p:nvSpPr>
        <p:spPr>
          <a:xfrm>
            <a:off x="3383280" y="1005840"/>
            <a:ext cx="2651760" cy="54864"/>
          </a:xfrm>
          <a:prstGeom prst="rect">
            <a:avLst/>
          </a:prstGeom>
          <a:solidFill>
            <a:srgbClr val="3B5BDB"/>
          </a:solidFill>
          <a:ln/>
        </p:spPr>
      </p:sp>
      <p:sp>
        <p:nvSpPr>
          <p:cNvPr id="9" name="Text 7"/>
          <p:cNvSpPr/>
          <p:nvPr/>
        </p:nvSpPr>
        <p:spPr>
          <a:xfrm>
            <a:off x="3566160" y="1188720"/>
            <a:ext cx="2286000" cy="320040"/>
          </a:xfrm>
          <a:prstGeom prst="rect">
            <a:avLst/>
          </a:prstGeom>
          <a:noFill/>
          <a:ln/>
        </p:spPr>
        <p:txBody>
          <a:bodyPr wrap="square" lIns="0" tIns="0" rIns="0" bIns="0" rtlCol="0" anchor="ctr"/>
          <a:lstStyle/>
          <a:p>
            <a:pPr indent="0" marL="0">
              <a:buNone/>
            </a:pPr>
            <a:r>
              <a:rPr lang="en-US" sz="1400" b="1" dirty="0">
                <a:solidFill>
                  <a:srgbClr val="3B5BDB"/>
                </a:solidFill>
                <a:latin typeface="IBM Plex Sans" pitchFamily="34" charset="0"/>
                <a:ea typeface="IBM Plex Sans" pitchFamily="34" charset="-122"/>
                <a:cs typeface="IBM Plex Sans" pitchFamily="34" charset="-120"/>
              </a:rPr>
              <a:t>Thought Leadership</a:t>
            </a:r>
            <a:endParaRPr lang="en-US" sz="1400" dirty="0"/>
          </a:p>
        </p:txBody>
      </p:sp>
      <p:sp>
        <p:nvSpPr>
          <p:cNvPr id="10" name="Text 8"/>
          <p:cNvSpPr/>
          <p:nvPr/>
        </p:nvSpPr>
        <p:spPr>
          <a:xfrm>
            <a:off x="3566160" y="1600200"/>
            <a:ext cx="2286000" cy="3017520"/>
          </a:xfrm>
          <a:prstGeom prst="rect">
            <a:avLst/>
          </a:prstGeom>
          <a:noFill/>
          <a:ln/>
        </p:spPr>
        <p:txBody>
          <a:bodyPr wrap="square" lIns="0" tIns="0" rIns="0" bIns="0" rtlCol="0" anchor="ctr"/>
          <a:lstStyle/>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"Agents Fight for the Users"</a:t>
            </a:r>
            <a:endParaRPr lang="en-US" sz="1050" dirty="0"/>
          </a:p>
          <a:p>
            <a:pPr indent="0" marL="0">
              <a:spcAft>
                <a:spcPts val="400"/>
              </a:spcAft>
              <a:buNone/>
            </a:pPr>
            <a:r>
              <a:rPr lang="en-US" sz="1050" dirty="0">
                <a:solidFill>
                  <a:srgbClr val="718096"/>
                </a:solidFill>
                <a:latin typeface="IBM Plex Sans" pitchFamily="34" charset="0"/>
                <a:ea typeface="IBM Plex Sans" pitchFamily="34" charset="-122"/>
                <a:cs typeface="IBM Plex Sans" pitchFamily="34" charset="-120"/>
              </a:rPr>
              <a:t>  Game theory + mechanism design</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"The Agentic Commerce Fallacy"</a:t>
            </a:r>
            <a:endParaRPr lang="en-US" sz="1050" dirty="0"/>
          </a:p>
          <a:p>
            <a:pPr indent="0" marL="0">
              <a:spcAft>
                <a:spcPts val="400"/>
              </a:spcAft>
              <a:buNone/>
            </a:pPr>
            <a:r>
              <a:rPr lang="en-US" sz="1050" dirty="0">
                <a:solidFill>
                  <a:srgbClr val="718096"/>
                </a:solidFill>
                <a:latin typeface="IBM Plex Sans" pitchFamily="34" charset="0"/>
                <a:ea typeface="IBM Plex Sans" pitchFamily="34" charset="-122"/>
                <a:cs typeface="IBM Plex Sans" pitchFamily="34" charset="-120"/>
              </a:rPr>
              <a:t>  Infrastructure argument</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Protocol stack analysis</a:t>
            </a:r>
            <a:endParaRPr lang="en-US" sz="1050" dirty="0"/>
          </a:p>
          <a:p>
            <a:pPr indent="0" marL="0">
              <a:spcAft>
                <a:spcPts val="400"/>
              </a:spcAft>
              <a:buNone/>
            </a:pPr>
            <a:r>
              <a:rPr lang="en-US" sz="1050" dirty="0">
                <a:solidFill>
                  <a:srgbClr val="718096"/>
                </a:solidFill>
                <a:latin typeface="IBM Plex Sans" pitchFamily="34" charset="0"/>
                <a:ea typeface="IBM Plex Sans" pitchFamily="34" charset="-122"/>
                <a:cs typeface="IBM Plex Sans" pitchFamily="34" charset="-120"/>
              </a:rPr>
              <a:t>  Coverage gap mapping</a:t>
            </a:r>
            <a:endParaRPr lang="en-US" sz="1050" dirty="0"/>
          </a:p>
        </p:txBody>
      </p:sp>
      <p:sp>
        <p:nvSpPr>
          <p:cNvPr id="11" name="Shape 9"/>
          <p:cNvSpPr/>
          <p:nvPr/>
        </p:nvSpPr>
        <p:spPr>
          <a:xfrm>
            <a:off x="6309360" y="1005840"/>
            <a:ext cx="2651760" cy="37490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2" name="Shape 10"/>
          <p:cNvSpPr/>
          <p:nvPr/>
        </p:nvSpPr>
        <p:spPr>
          <a:xfrm>
            <a:off x="6309360" y="1005840"/>
            <a:ext cx="2651760" cy="54864"/>
          </a:xfrm>
          <a:prstGeom prst="rect">
            <a:avLst/>
          </a:prstGeom>
          <a:solidFill>
            <a:srgbClr val="3B5BDB"/>
          </a:solidFill>
          <a:ln/>
        </p:spPr>
      </p:sp>
      <p:sp>
        <p:nvSpPr>
          <p:cNvPr id="13" name="Text 11"/>
          <p:cNvSpPr/>
          <p:nvPr/>
        </p:nvSpPr>
        <p:spPr>
          <a:xfrm>
            <a:off x="6492240" y="1188720"/>
            <a:ext cx="2286000" cy="320040"/>
          </a:xfrm>
          <a:prstGeom prst="rect">
            <a:avLst/>
          </a:prstGeom>
          <a:noFill/>
          <a:ln/>
        </p:spPr>
        <p:txBody>
          <a:bodyPr wrap="square" lIns="0" tIns="0" rIns="0" bIns="0" rtlCol="0" anchor="ctr"/>
          <a:lstStyle/>
          <a:p>
            <a:pPr indent="0" marL="0">
              <a:buNone/>
            </a:pPr>
            <a:r>
              <a:rPr lang="en-US" sz="1400" b="1" dirty="0">
                <a:solidFill>
                  <a:srgbClr val="3B5BDB"/>
                </a:solidFill>
                <a:latin typeface="IBM Plex Sans" pitchFamily="34" charset="0"/>
                <a:ea typeface="IBM Plex Sans" pitchFamily="34" charset="-122"/>
                <a:cs typeface="IBM Plex Sans" pitchFamily="34" charset="-120"/>
              </a:rPr>
              <a:t>Policy &amp; Governance</a:t>
            </a:r>
            <a:endParaRPr lang="en-US" sz="1400" dirty="0"/>
          </a:p>
        </p:txBody>
      </p:sp>
      <p:sp>
        <p:nvSpPr>
          <p:cNvPr id="14" name="Text 12"/>
          <p:cNvSpPr/>
          <p:nvPr/>
        </p:nvSpPr>
        <p:spPr>
          <a:xfrm>
            <a:off x="6492240" y="1600200"/>
            <a:ext cx="2286000" cy="3017520"/>
          </a:xfrm>
          <a:prstGeom prst="rect">
            <a:avLst/>
          </a:prstGeom>
          <a:noFill/>
          <a:ln/>
        </p:spPr>
        <p:txBody>
          <a:bodyPr wrap="square" lIns="0" tIns="0" rIns="0" bIns="0" rtlCol="0" anchor="ctr"/>
          <a:lstStyle/>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"Whose Agent Is It?"</a:t>
            </a:r>
            <a:endParaRPr lang="en-US" sz="1050" dirty="0"/>
          </a:p>
          <a:p>
            <a:pPr indent="0" marL="0">
              <a:spcAft>
                <a:spcPts val="400"/>
              </a:spcAft>
              <a:buNone/>
            </a:pPr>
            <a:r>
              <a:rPr lang="en-US" sz="1050" dirty="0">
                <a:solidFill>
                  <a:srgbClr val="718096"/>
                </a:solidFill>
                <a:latin typeface="IBM Plex Sans" pitchFamily="34" charset="0"/>
                <a:ea typeface="IBM Plex Sans" pitchFamily="34" charset="-122"/>
                <a:cs typeface="IBM Plex Sans" pitchFamily="34" charset="-120"/>
              </a:rPr>
              <a:t>  California policy brief</a:t>
            </a:r>
            <a:endParaRPr lang="en-US" sz="1050" dirty="0"/>
          </a:p>
          <a:p>
            <a:pPr indent="0" marL="0">
              <a:spcAft>
                <a:spcPts val="400"/>
              </a:spcAft>
              <a:buNone/>
            </a:pPr>
            <a:r>
              <a:rPr lang="en-US" sz="1050" dirty="0">
                <a:solidFill>
                  <a:srgbClr val="718096"/>
                </a:solidFill>
                <a:latin typeface="IBM Plex Sans" pitchFamily="34" charset="0"/>
                <a:ea typeface="IBM Plex Sans" pitchFamily="34" charset="-122"/>
                <a:cs typeface="IBM Plex Sans" pitchFamily="34" charset="-120"/>
              </a:rPr>
              <a:t>  With Renee Murphy</a:t>
            </a:r>
            <a:endParaRPr lang="en-US" sz="1050" dirty="0"/>
          </a:p>
          <a:p>
            <a:pPr indent="0" marL="0">
              <a:spcAft>
                <a:spcPts val="400"/>
              </a:spcAft>
              <a:buNone/>
            </a:pPr>
            <a:r>
              <a:rPr lang="en-US" sz="1050" dirty="0">
                <a:solidFill>
                  <a:srgbClr val="718096"/>
                </a:solidFill>
                <a:latin typeface="IBM Plex Sans" pitchFamily="34" charset="0"/>
                <a:ea typeface="IBM Plex Sans" pitchFamily="34" charset="-122"/>
                <a:cs typeface="IBM Plex Sans" pitchFamily="34" charset="-120"/>
              </a:rPr>
              <a:t>  (former Forrester lead analyst)</a:t>
            </a:r>
            <a:endParaRPr lang="en-US" sz="1050" dirty="0"/>
          </a:p>
          <a:p>
            <a:pPr indent="0" marL="0">
              <a:spcAft>
                <a:spcPts val="400"/>
              </a:spcAft>
              <a:buNone/>
            </a:pPr>
            <a:r>
              <a:rPr lang="en-US" sz="1050" b="1" dirty="0">
                <a:solidFill>
                  <a:srgbClr val="1A2332"/>
                </a:solidFill>
                <a:latin typeface="IBM Plex Sans" pitchFamily="34" charset="0"/>
                <a:ea typeface="IBM Plex Sans" pitchFamily="34" charset="-122"/>
                <a:cs typeface="IBM Plex Sans" pitchFamily="34" charset="-120"/>
              </a:rPr>
              <a:t>EU AI Act alignment analysis</a:t>
            </a:r>
            <a:endParaRPr lang="en-US" sz="1050" dirty="0"/>
          </a:p>
        </p:txBody>
      </p:sp>
      <p:sp>
        <p:nvSpPr>
          <p:cNvPr id="15" name="Text 13"/>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Three phases. Each validates the next.</a:t>
            </a:r>
            <a:endParaRPr lang="en-US" sz="2600" dirty="0"/>
          </a:p>
        </p:txBody>
      </p:sp>
      <p:sp>
        <p:nvSpPr>
          <p:cNvPr id="3" name="Shape 1"/>
          <p:cNvSpPr/>
          <p:nvPr/>
        </p:nvSpPr>
        <p:spPr>
          <a:xfrm>
            <a:off x="731520" y="1097280"/>
            <a:ext cx="7680960" cy="1051560"/>
          </a:xfrm>
          <a:prstGeom prst="rect">
            <a:avLst/>
          </a:prstGeom>
          <a:solidFill>
            <a:srgbClr val="E8EDFF"/>
          </a:solidFill>
          <a:ln/>
          <a:effectLst>
            <a:outerShdw sx="100000" sy="100000" kx="0" ky="0" algn="bl" rotWithShape="0" blurRad="50800" dist="12700" dir="8100000">
              <a:srgbClr val="000000">
                <a:alpha val="8000"/>
              </a:srgbClr>
            </a:outerShdw>
          </a:effectLst>
        </p:spPr>
      </p:sp>
      <p:sp>
        <p:nvSpPr>
          <p:cNvPr id="4" name="Text 2"/>
          <p:cNvSpPr/>
          <p:nvPr/>
        </p:nvSpPr>
        <p:spPr>
          <a:xfrm>
            <a:off x="960120" y="1371600"/>
            <a:ext cx="457200" cy="457200"/>
          </a:xfrm>
          <a:prstGeom prst="ellipse">
            <a:avLst/>
          </a:prstGeom>
          <a:solidFill>
            <a:srgbClr val="3B5BDB"/>
          </a:solidFill>
          <a:ln/>
        </p:spPr>
        <p:txBody>
          <a:bodyPr wrap="square" rtlCol="0" anchor="ctr"/>
          <a:lstStyle/>
          <a:p>
            <a:pPr algn="ctr" indent="0" marL="0">
              <a:buNone/>
            </a:pPr>
            <a:r>
              <a:rPr lang="en-US" sz="2000" dirty="0">
                <a:solidFill>
                  <a:srgbClr val="FFFFFF"/>
                </a:solidFill>
                <a:latin typeface="IBM Plex Sans" pitchFamily="34" charset="0"/>
                <a:ea typeface="IBM Plex Sans" pitchFamily="34" charset="-122"/>
                <a:cs typeface="IBM Plex Sans" pitchFamily="34" charset="-120"/>
              </a:rPr>
              <a:t>1</a:t>
            </a:r>
            <a:endParaRPr lang="en-US" sz="2000" dirty="0"/>
          </a:p>
        </p:txBody>
      </p:sp>
      <p:sp>
        <p:nvSpPr>
          <p:cNvPr id="5" name="Text 3"/>
          <p:cNvSpPr/>
          <p:nvPr/>
        </p:nvSpPr>
        <p:spPr>
          <a:xfrm>
            <a:off x="1645920" y="1234440"/>
            <a:ext cx="2286000" cy="32004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Scout It!</a:t>
            </a:r>
            <a:endParaRPr lang="en-US" sz="1600" dirty="0"/>
          </a:p>
        </p:txBody>
      </p:sp>
      <p:sp>
        <p:nvSpPr>
          <p:cNvPr id="6" name="Text 4"/>
          <p:cNvSpPr/>
          <p:nvPr/>
        </p:nvSpPr>
        <p:spPr>
          <a:xfrm>
            <a:off x="1645920" y="1554480"/>
            <a:ext cx="2286000" cy="228600"/>
          </a:xfrm>
          <a:prstGeom prst="rect">
            <a:avLst/>
          </a:prstGeom>
          <a:noFill/>
          <a:ln/>
        </p:spPr>
        <p:txBody>
          <a:bodyPr wrap="square" lIns="0" tIns="0" rIns="0" bIns="0" rtlCol="0" anchor="ctr"/>
          <a:lstStyle/>
          <a:p>
            <a:pPr indent="0" marL="0">
              <a:buNone/>
            </a:pPr>
            <a:r>
              <a:rPr lang="en-US" sz="1100" i="1" dirty="0">
                <a:solidFill>
                  <a:srgbClr val="3B5BDB"/>
                </a:solidFill>
                <a:latin typeface="IBM Plex Sans" pitchFamily="34" charset="0"/>
                <a:ea typeface="IBM Plex Sans" pitchFamily="34" charset="-122"/>
                <a:cs typeface="IBM Plex Sans" pitchFamily="34" charset="-120"/>
              </a:rPr>
              <a:t>iOS Consumer App</a:t>
            </a:r>
            <a:endParaRPr lang="en-US" sz="1100" dirty="0"/>
          </a:p>
        </p:txBody>
      </p:sp>
      <p:sp>
        <p:nvSpPr>
          <p:cNvPr id="7" name="Text 5"/>
          <p:cNvSpPr/>
          <p:nvPr/>
        </p:nvSpPr>
        <p:spPr>
          <a:xfrm>
            <a:off x="4114800" y="1234440"/>
            <a:ext cx="4114800" cy="77724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Proof-of-concept and reference implementation. Demonstrates the full flow: user intent, agent discovery, negotiation, purchase. The buildable first step.</a:t>
            </a:r>
            <a:endParaRPr lang="en-US" sz="1100" dirty="0"/>
          </a:p>
        </p:txBody>
      </p:sp>
      <p:sp>
        <p:nvSpPr>
          <p:cNvPr id="8" name="Text 6"/>
          <p:cNvSpPr/>
          <p:nvPr/>
        </p:nvSpPr>
        <p:spPr>
          <a:xfrm>
            <a:off x="960120" y="2148840"/>
            <a:ext cx="457200" cy="228600"/>
          </a:xfrm>
          <a:prstGeom prst="rect">
            <a:avLst/>
          </a:prstGeom>
          <a:noFill/>
          <a:ln/>
        </p:spPr>
        <p:txBody>
          <a:bodyPr wrap="square" lIns="0" tIns="0" rIns="0" bIns="0" rtlCol="0" anchor="ctr"/>
          <a:lstStyle/>
          <a:p>
            <a:pPr algn="ctr" indent="0" marL="0">
              <a:buNone/>
            </a:pPr>
            <a:r>
              <a:rPr lang="en-US" sz="1400" dirty="0">
                <a:solidFill>
                  <a:srgbClr val="3B5BDB"/>
                </a:solidFill>
              </a:rPr>
              <a:t>↓</a:t>
            </a:r>
            <a:endParaRPr lang="en-US" sz="1400" dirty="0"/>
          </a:p>
        </p:txBody>
      </p:sp>
      <p:sp>
        <p:nvSpPr>
          <p:cNvPr id="9" name="Shape 7"/>
          <p:cNvSpPr/>
          <p:nvPr/>
        </p:nvSpPr>
        <p:spPr>
          <a:xfrm>
            <a:off x="731520" y="2377440"/>
            <a:ext cx="768096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960120" y="2651760"/>
            <a:ext cx="457200" cy="457200"/>
          </a:xfrm>
          <a:prstGeom prst="ellipse">
            <a:avLst/>
          </a:prstGeom>
          <a:solidFill>
            <a:srgbClr val="3B5BDB"/>
          </a:solidFill>
          <a:ln/>
        </p:spPr>
        <p:txBody>
          <a:bodyPr wrap="square" rtlCol="0" anchor="ctr"/>
          <a:lstStyle/>
          <a:p>
            <a:pPr algn="ctr" indent="0" marL="0">
              <a:buNone/>
            </a:pPr>
            <a:r>
              <a:rPr lang="en-US" sz="2000" dirty="0">
                <a:solidFill>
                  <a:srgbClr val="FFFFFF"/>
                </a:solidFill>
                <a:latin typeface="IBM Plex Sans" pitchFamily="34" charset="0"/>
                <a:ea typeface="IBM Plex Sans" pitchFamily="34" charset="-122"/>
                <a:cs typeface="IBM Plex Sans" pitchFamily="34" charset="-120"/>
              </a:rPr>
              <a:t>2</a:t>
            </a:r>
            <a:endParaRPr lang="en-US" sz="2000" dirty="0"/>
          </a:p>
        </p:txBody>
      </p:sp>
      <p:sp>
        <p:nvSpPr>
          <p:cNvPr id="11" name="Text 9"/>
          <p:cNvSpPr/>
          <p:nvPr/>
        </p:nvSpPr>
        <p:spPr>
          <a:xfrm>
            <a:off x="1645920" y="2514600"/>
            <a:ext cx="2286000" cy="32004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Enterprise Licensing</a:t>
            </a:r>
            <a:endParaRPr lang="en-US" sz="1600" dirty="0"/>
          </a:p>
        </p:txBody>
      </p:sp>
      <p:sp>
        <p:nvSpPr>
          <p:cNvPr id="12" name="Text 10"/>
          <p:cNvSpPr/>
          <p:nvPr/>
        </p:nvSpPr>
        <p:spPr>
          <a:xfrm>
            <a:off x="1645920" y="2834640"/>
            <a:ext cx="2286000" cy="228600"/>
          </a:xfrm>
          <a:prstGeom prst="rect">
            <a:avLst/>
          </a:prstGeom>
          <a:noFill/>
          <a:ln/>
        </p:spPr>
        <p:txBody>
          <a:bodyPr wrap="square" lIns="0" tIns="0" rIns="0" bIns="0" rtlCol="0" anchor="ctr"/>
          <a:lstStyle/>
          <a:p>
            <a:pPr indent="0" marL="0">
              <a:buNone/>
            </a:pPr>
            <a:r>
              <a:rPr lang="en-US" sz="1100" i="1" dirty="0">
                <a:solidFill>
                  <a:srgbClr val="3B5BDB"/>
                </a:solidFill>
                <a:latin typeface="IBM Plex Sans" pitchFamily="34" charset="0"/>
                <a:ea typeface="IBM Plex Sans" pitchFamily="34" charset="-122"/>
                <a:cs typeface="IBM Plex Sans" pitchFamily="34" charset="-120"/>
              </a:rPr>
              <a:t>Beacon Framework</a:t>
            </a:r>
            <a:endParaRPr lang="en-US" sz="1100" dirty="0"/>
          </a:p>
        </p:txBody>
      </p:sp>
      <p:sp>
        <p:nvSpPr>
          <p:cNvPr id="13" name="Text 11"/>
          <p:cNvSpPr/>
          <p:nvPr/>
        </p:nvSpPr>
        <p:spPr>
          <a:xfrm>
            <a:off x="4114800" y="2514600"/>
            <a:ext cx="4114800" cy="77724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Beacon framework licensing to retailers. Scout It! becomes the reference that proves the model. Merchants see conversion data and want in.</a:t>
            </a:r>
            <a:endParaRPr lang="en-US" sz="1100" dirty="0"/>
          </a:p>
        </p:txBody>
      </p:sp>
      <p:sp>
        <p:nvSpPr>
          <p:cNvPr id="14" name="Text 12"/>
          <p:cNvSpPr/>
          <p:nvPr/>
        </p:nvSpPr>
        <p:spPr>
          <a:xfrm>
            <a:off x="960120" y="3429000"/>
            <a:ext cx="457200" cy="228600"/>
          </a:xfrm>
          <a:prstGeom prst="rect">
            <a:avLst/>
          </a:prstGeom>
          <a:noFill/>
          <a:ln/>
        </p:spPr>
        <p:txBody>
          <a:bodyPr wrap="square" lIns="0" tIns="0" rIns="0" bIns="0" rtlCol="0" anchor="ctr"/>
          <a:lstStyle/>
          <a:p>
            <a:pPr algn="ctr" indent="0" marL="0">
              <a:buNone/>
            </a:pPr>
            <a:r>
              <a:rPr lang="en-US" sz="1400" dirty="0">
                <a:solidFill>
                  <a:srgbClr val="3B5BDB"/>
                </a:solidFill>
              </a:rPr>
              <a:t>↓</a:t>
            </a:r>
            <a:endParaRPr lang="en-US" sz="1400" dirty="0"/>
          </a:p>
        </p:txBody>
      </p:sp>
      <p:sp>
        <p:nvSpPr>
          <p:cNvPr id="15" name="Shape 13"/>
          <p:cNvSpPr/>
          <p:nvPr/>
        </p:nvSpPr>
        <p:spPr>
          <a:xfrm>
            <a:off x="731520" y="3657600"/>
            <a:ext cx="768096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Text 14"/>
          <p:cNvSpPr/>
          <p:nvPr/>
        </p:nvSpPr>
        <p:spPr>
          <a:xfrm>
            <a:off x="960120" y="3931920"/>
            <a:ext cx="457200" cy="457200"/>
          </a:xfrm>
          <a:prstGeom prst="ellipse">
            <a:avLst/>
          </a:prstGeom>
          <a:solidFill>
            <a:srgbClr val="3B5BDB"/>
          </a:solidFill>
          <a:ln/>
        </p:spPr>
        <p:txBody>
          <a:bodyPr wrap="square" rtlCol="0" anchor="ctr"/>
          <a:lstStyle/>
          <a:p>
            <a:pPr algn="ctr" indent="0" marL="0">
              <a:buNone/>
            </a:pPr>
            <a:r>
              <a:rPr lang="en-US" sz="2000" dirty="0">
                <a:solidFill>
                  <a:srgbClr val="FFFFFF"/>
                </a:solidFill>
                <a:latin typeface="IBM Plex Sans" pitchFamily="34" charset="0"/>
                <a:ea typeface="IBM Plex Sans" pitchFamily="34" charset="-122"/>
                <a:cs typeface="IBM Plex Sans" pitchFamily="34" charset="-120"/>
              </a:rPr>
              <a:t>3</a:t>
            </a:r>
            <a:endParaRPr lang="en-US" sz="2000" dirty="0"/>
          </a:p>
        </p:txBody>
      </p:sp>
      <p:sp>
        <p:nvSpPr>
          <p:cNvPr id="17" name="Text 15"/>
          <p:cNvSpPr/>
          <p:nvPr/>
        </p:nvSpPr>
        <p:spPr>
          <a:xfrm>
            <a:off x="1645920" y="3794760"/>
            <a:ext cx="2286000" cy="32004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B2B Infrastructure</a:t>
            </a:r>
            <a:endParaRPr lang="en-US" sz="1600" dirty="0"/>
          </a:p>
        </p:txBody>
      </p:sp>
      <p:sp>
        <p:nvSpPr>
          <p:cNvPr id="18" name="Text 16"/>
          <p:cNvSpPr/>
          <p:nvPr/>
        </p:nvSpPr>
        <p:spPr>
          <a:xfrm>
            <a:off x="1645920" y="4114800"/>
            <a:ext cx="2286000" cy="228600"/>
          </a:xfrm>
          <a:prstGeom prst="rect">
            <a:avLst/>
          </a:prstGeom>
          <a:noFill/>
          <a:ln/>
        </p:spPr>
        <p:txBody>
          <a:bodyPr wrap="square" lIns="0" tIns="0" rIns="0" bIns="0" rtlCol="0" anchor="ctr"/>
          <a:lstStyle/>
          <a:p>
            <a:pPr indent="0" marL="0">
              <a:buNone/>
            </a:pPr>
            <a:r>
              <a:rPr lang="en-US" sz="1100" i="1" dirty="0">
                <a:solidFill>
                  <a:srgbClr val="3B5BDB"/>
                </a:solidFill>
                <a:latin typeface="IBM Plex Sans" pitchFamily="34" charset="0"/>
                <a:ea typeface="IBM Plex Sans" pitchFamily="34" charset="-122"/>
                <a:cs typeface="IBM Plex Sans" pitchFamily="34" charset="-120"/>
              </a:rPr>
              <a:t>The Defensive Moat</a:t>
            </a:r>
            <a:endParaRPr lang="en-US" sz="1100" dirty="0"/>
          </a:p>
        </p:txBody>
      </p:sp>
      <p:sp>
        <p:nvSpPr>
          <p:cNvPr id="19" name="Text 17"/>
          <p:cNvSpPr/>
          <p:nvPr/>
        </p:nvSpPr>
        <p:spPr>
          <a:xfrm>
            <a:off x="4114800" y="3794760"/>
            <a:ext cx="4114800" cy="77724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Enterprise procurement integration. The B2B constraint satisfaction problem is orders of magnitude more valuable than consumer shopping.</a:t>
            </a:r>
            <a:endParaRPr lang="en-US" sz="1100" dirty="0"/>
          </a:p>
        </p:txBody>
      </p:sp>
      <p:sp>
        <p:nvSpPr>
          <p:cNvPr id="20" name="Text 18"/>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The Eternal Catalogue</a:t>
            </a:r>
            <a:endParaRPr lang="en-US" sz="2600" dirty="0"/>
          </a:p>
        </p:txBody>
      </p:sp>
      <p:sp>
        <p:nvSpPr>
          <p:cNvPr id="3" name="Text 1"/>
          <p:cNvSpPr/>
          <p:nvPr/>
        </p:nvSpPr>
        <p:spPr>
          <a:xfrm>
            <a:off x="731520" y="777240"/>
            <a:ext cx="7680960" cy="320040"/>
          </a:xfrm>
          <a:prstGeom prst="rect">
            <a:avLst/>
          </a:prstGeom>
          <a:noFill/>
          <a:ln/>
        </p:spPr>
        <p:txBody>
          <a:bodyPr wrap="square" lIns="0" tIns="0" rIns="0" bIns="0" rtlCol="0" anchor="ctr"/>
          <a:lstStyle/>
          <a:p>
            <a:pPr indent="0" marL="0">
              <a:buNone/>
            </a:pPr>
            <a:r>
              <a:rPr lang="en-US" sz="1300" i="1" dirty="0">
                <a:solidFill>
                  <a:srgbClr val="4A5568"/>
                </a:solidFill>
                <a:latin typeface="IBM Plex Sans" pitchFamily="34" charset="0"/>
                <a:ea typeface="IBM Plex Sans" pitchFamily="34" charset="-122"/>
                <a:cs typeface="IBM Plex Sans" pitchFamily="34" charset="-120"/>
              </a:rPr>
              <a:t>Every era of commerce has a discovery mechanism. Whoever operates it captures value.</a:t>
            </a:r>
            <a:endParaRPr lang="en-US" sz="1300" dirty="0"/>
          </a:p>
        </p:txBody>
      </p:sp>
      <p:sp>
        <p:nvSpPr>
          <p:cNvPr id="4" name="Shape 2"/>
          <p:cNvSpPr/>
          <p:nvPr/>
        </p:nvSpPr>
        <p:spPr>
          <a:xfrm>
            <a:off x="731520" y="1280160"/>
            <a:ext cx="2468880" cy="15544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5" name="Shape 3"/>
          <p:cNvSpPr/>
          <p:nvPr/>
        </p:nvSpPr>
        <p:spPr>
          <a:xfrm>
            <a:off x="731520" y="1280160"/>
            <a:ext cx="2468880" cy="54864"/>
          </a:xfrm>
          <a:prstGeom prst="rect">
            <a:avLst/>
          </a:prstGeom>
          <a:solidFill>
            <a:srgbClr val="718096"/>
          </a:solidFill>
          <a:ln/>
        </p:spPr>
      </p:sp>
      <p:sp>
        <p:nvSpPr>
          <p:cNvPr id="6" name="Text 4"/>
          <p:cNvSpPr/>
          <p:nvPr/>
        </p:nvSpPr>
        <p:spPr>
          <a:xfrm>
            <a:off x="868680" y="1417320"/>
            <a:ext cx="2194560" cy="274320"/>
          </a:xfrm>
          <a:prstGeom prst="rect">
            <a:avLst/>
          </a:prstGeom>
          <a:noFill/>
          <a:ln/>
        </p:spPr>
        <p:txBody>
          <a:bodyPr wrap="square" lIns="0" tIns="0" rIns="0" bIns="0" rtlCol="0" anchor="ctr"/>
          <a:lstStyle/>
          <a:p>
            <a:pPr indent="0" marL="0">
              <a:buNone/>
            </a:pPr>
            <a:r>
              <a:rPr lang="en-US" sz="1300" b="1" dirty="0">
                <a:solidFill>
                  <a:srgbClr val="718096"/>
                </a:solidFill>
                <a:latin typeface="IBM Plex Sans" pitchFamily="34" charset="0"/>
                <a:ea typeface="IBM Plex Sans" pitchFamily="34" charset="-122"/>
                <a:cs typeface="IBM Plex Sans" pitchFamily="34" charset="-120"/>
              </a:rPr>
              <a:t>Print (1888-1990s)</a:t>
            </a:r>
            <a:endParaRPr lang="en-US" sz="1300" dirty="0"/>
          </a:p>
        </p:txBody>
      </p:sp>
      <p:sp>
        <p:nvSpPr>
          <p:cNvPr id="7" name="Text 5"/>
          <p:cNvSpPr/>
          <p:nvPr/>
        </p:nvSpPr>
        <p:spPr>
          <a:xfrm>
            <a:off x="868680" y="1737360"/>
            <a:ext cx="2194560" cy="41148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Sears catalog</a:t>
            </a:r>
            <a:endParaRPr lang="en-US" sz="1100" dirty="0"/>
          </a:p>
          <a:p>
            <a:pPr indent="0" marL="0">
              <a:buNone/>
            </a:pPr>
            <a:r>
              <a:rPr lang="en-US" sz="1100" dirty="0">
                <a:solidFill>
                  <a:srgbClr val="4A5568"/>
                </a:solidFill>
                <a:latin typeface="IBM Plex Sans" pitchFamily="34" charset="0"/>
                <a:ea typeface="IBM Plex Sans" pitchFamily="34" charset="-122"/>
                <a:cs typeface="IBM Plex Sans" pitchFamily="34" charset="-120"/>
              </a:rPr>
              <a:t>Yellow Pages</a:t>
            </a:r>
            <a:endParaRPr lang="en-US" sz="1100" dirty="0"/>
          </a:p>
        </p:txBody>
      </p:sp>
      <p:sp>
        <p:nvSpPr>
          <p:cNvPr id="8" name="Text 6"/>
          <p:cNvSpPr/>
          <p:nvPr/>
        </p:nvSpPr>
        <p:spPr>
          <a:xfrm>
            <a:off x="868680" y="2286000"/>
            <a:ext cx="2194560" cy="411480"/>
          </a:xfrm>
          <a:prstGeom prst="rect">
            <a:avLst/>
          </a:prstGeom>
          <a:noFill/>
          <a:ln/>
        </p:spPr>
        <p:txBody>
          <a:bodyPr wrap="square" lIns="0" tIns="0" rIns="0" bIns="0" rtlCol="0" anchor="ctr"/>
          <a:lstStyle/>
          <a:p>
            <a:pPr indent="0" marL="0">
              <a:buNone/>
            </a:pPr>
            <a:r>
              <a:rPr lang="en-US" sz="1100" b="1" dirty="0">
                <a:solidFill>
                  <a:srgbClr val="1A2332"/>
                </a:solidFill>
                <a:latin typeface="IBM Plex Sans" pitchFamily="34" charset="0"/>
                <a:ea typeface="IBM Plex Sans" pitchFamily="34" charset="-122"/>
                <a:cs typeface="IBM Plex Sans" pitchFamily="34" charset="-120"/>
              </a:rPr>
              <a:t>Listing fees</a:t>
            </a:r>
            <a:endParaRPr lang="en-US" sz="1100" dirty="0"/>
          </a:p>
        </p:txBody>
      </p:sp>
      <p:sp>
        <p:nvSpPr>
          <p:cNvPr id="9" name="Text 7"/>
          <p:cNvSpPr/>
          <p:nvPr/>
        </p:nvSpPr>
        <p:spPr>
          <a:xfrm>
            <a:off x="3200400" y="1737360"/>
            <a:ext cx="274320" cy="457200"/>
          </a:xfrm>
          <a:prstGeom prst="rect">
            <a:avLst/>
          </a:prstGeom>
          <a:noFill/>
          <a:ln/>
        </p:spPr>
        <p:txBody>
          <a:bodyPr wrap="square" lIns="0" tIns="0" rIns="0" bIns="0" rtlCol="0" anchor="ctr"/>
          <a:lstStyle/>
          <a:p>
            <a:pPr algn="ctr" indent="0" marL="0">
              <a:buNone/>
            </a:pPr>
            <a:r>
              <a:rPr lang="en-US" sz="1800" dirty="0">
                <a:solidFill>
                  <a:srgbClr val="718096"/>
                </a:solidFill>
              </a:rPr>
              <a:t>→</a:t>
            </a:r>
            <a:endParaRPr lang="en-US" sz="1800" dirty="0"/>
          </a:p>
        </p:txBody>
      </p:sp>
      <p:sp>
        <p:nvSpPr>
          <p:cNvPr id="10" name="Shape 8"/>
          <p:cNvSpPr/>
          <p:nvPr/>
        </p:nvSpPr>
        <p:spPr>
          <a:xfrm>
            <a:off x="3520440" y="1280160"/>
            <a:ext cx="2468880" cy="15544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1" name="Shape 9"/>
          <p:cNvSpPr/>
          <p:nvPr/>
        </p:nvSpPr>
        <p:spPr>
          <a:xfrm>
            <a:off x="3520440" y="1280160"/>
            <a:ext cx="2468880" cy="54864"/>
          </a:xfrm>
          <a:prstGeom prst="rect">
            <a:avLst/>
          </a:prstGeom>
          <a:solidFill>
            <a:srgbClr val="4A5568"/>
          </a:solidFill>
          <a:ln/>
        </p:spPr>
      </p:sp>
      <p:sp>
        <p:nvSpPr>
          <p:cNvPr id="12" name="Text 10"/>
          <p:cNvSpPr/>
          <p:nvPr/>
        </p:nvSpPr>
        <p:spPr>
          <a:xfrm>
            <a:off x="3657600" y="1417320"/>
            <a:ext cx="2194560" cy="274320"/>
          </a:xfrm>
          <a:prstGeom prst="rect">
            <a:avLst/>
          </a:prstGeom>
          <a:noFill/>
          <a:ln/>
        </p:spPr>
        <p:txBody>
          <a:bodyPr wrap="square" lIns="0" tIns="0" rIns="0" bIns="0" rtlCol="0" anchor="ctr"/>
          <a:lstStyle/>
          <a:p>
            <a:pPr indent="0" marL="0">
              <a:buNone/>
            </a:pPr>
            <a:r>
              <a:rPr lang="en-US" sz="1300" b="1" dirty="0">
                <a:solidFill>
                  <a:srgbClr val="4A5568"/>
                </a:solidFill>
                <a:latin typeface="IBM Plex Sans" pitchFamily="34" charset="0"/>
                <a:ea typeface="IBM Plex Sans" pitchFamily="34" charset="-122"/>
                <a:cs typeface="IBM Plex Sans" pitchFamily="34" charset="-120"/>
              </a:rPr>
              <a:t>Digital (1998-now)</a:t>
            </a:r>
            <a:endParaRPr lang="en-US" sz="1300" dirty="0"/>
          </a:p>
        </p:txBody>
      </p:sp>
      <p:sp>
        <p:nvSpPr>
          <p:cNvPr id="13" name="Text 11"/>
          <p:cNvSpPr/>
          <p:nvPr/>
        </p:nvSpPr>
        <p:spPr>
          <a:xfrm>
            <a:off x="3657600" y="1737360"/>
            <a:ext cx="2194560" cy="41148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Google</a:t>
            </a:r>
            <a:endParaRPr lang="en-US" sz="1100" dirty="0"/>
          </a:p>
          <a:p>
            <a:pPr indent="0" marL="0">
              <a:buNone/>
            </a:pPr>
            <a:r>
              <a:rPr lang="en-US" sz="1100" dirty="0">
                <a:solidFill>
                  <a:srgbClr val="4A5568"/>
                </a:solidFill>
                <a:latin typeface="IBM Plex Sans" pitchFamily="34" charset="0"/>
                <a:ea typeface="IBM Plex Sans" pitchFamily="34" charset="-122"/>
                <a:cs typeface="IBM Plex Sans" pitchFamily="34" charset="-120"/>
              </a:rPr>
              <a:t>Facebook</a:t>
            </a:r>
            <a:endParaRPr lang="en-US" sz="1100" dirty="0"/>
          </a:p>
        </p:txBody>
      </p:sp>
      <p:sp>
        <p:nvSpPr>
          <p:cNvPr id="14" name="Text 12"/>
          <p:cNvSpPr/>
          <p:nvPr/>
        </p:nvSpPr>
        <p:spPr>
          <a:xfrm>
            <a:off x="3657600" y="2286000"/>
            <a:ext cx="2194560" cy="411480"/>
          </a:xfrm>
          <a:prstGeom prst="rect">
            <a:avLst/>
          </a:prstGeom>
          <a:noFill/>
          <a:ln/>
        </p:spPr>
        <p:txBody>
          <a:bodyPr wrap="square" lIns="0" tIns="0" rIns="0" bIns="0" rtlCol="0" anchor="ctr"/>
          <a:lstStyle/>
          <a:p>
            <a:pPr indent="0" marL="0">
              <a:buNone/>
            </a:pPr>
            <a:r>
              <a:rPr lang="en-US" sz="1100" b="1" dirty="0">
                <a:solidFill>
                  <a:srgbClr val="1A2332"/>
                </a:solidFill>
                <a:latin typeface="IBM Plex Sans" pitchFamily="34" charset="0"/>
                <a:ea typeface="IBM Plex Sans" pitchFamily="34" charset="-122"/>
                <a:cs typeface="IBM Plex Sans" pitchFamily="34" charset="-120"/>
              </a:rPr>
              <a:t>Attention auction</a:t>
            </a:r>
            <a:endParaRPr lang="en-US" sz="1100" dirty="0"/>
          </a:p>
          <a:p>
            <a:pPr indent="0" marL="0">
              <a:buNone/>
            </a:pPr>
            <a:r>
              <a:rPr lang="en-US" sz="1100" b="1" dirty="0">
                <a:solidFill>
                  <a:srgbClr val="1A2332"/>
                </a:solidFill>
                <a:latin typeface="IBM Plex Sans" pitchFamily="34" charset="0"/>
                <a:ea typeface="IBM Plex Sans" pitchFamily="34" charset="-122"/>
                <a:cs typeface="IBM Plex Sans" pitchFamily="34" charset="-120"/>
              </a:rPr>
              <a:t>(CPC/CPM)</a:t>
            </a:r>
            <a:endParaRPr lang="en-US" sz="1100" dirty="0"/>
          </a:p>
        </p:txBody>
      </p:sp>
      <p:sp>
        <p:nvSpPr>
          <p:cNvPr id="15" name="Text 13"/>
          <p:cNvSpPr/>
          <p:nvPr/>
        </p:nvSpPr>
        <p:spPr>
          <a:xfrm>
            <a:off x="5989320" y="1737360"/>
            <a:ext cx="274320" cy="457200"/>
          </a:xfrm>
          <a:prstGeom prst="rect">
            <a:avLst/>
          </a:prstGeom>
          <a:noFill/>
          <a:ln/>
        </p:spPr>
        <p:txBody>
          <a:bodyPr wrap="square" lIns="0" tIns="0" rIns="0" bIns="0" rtlCol="0" anchor="ctr"/>
          <a:lstStyle/>
          <a:p>
            <a:pPr algn="ctr" indent="0" marL="0">
              <a:buNone/>
            </a:pPr>
            <a:r>
              <a:rPr lang="en-US" sz="1800" dirty="0">
                <a:solidFill>
                  <a:srgbClr val="718096"/>
                </a:solidFill>
              </a:rPr>
              <a:t>→</a:t>
            </a:r>
            <a:endParaRPr lang="en-US" sz="1800" dirty="0"/>
          </a:p>
        </p:txBody>
      </p:sp>
      <p:sp>
        <p:nvSpPr>
          <p:cNvPr id="16" name="Shape 14"/>
          <p:cNvSpPr/>
          <p:nvPr/>
        </p:nvSpPr>
        <p:spPr>
          <a:xfrm>
            <a:off x="6309360" y="1280160"/>
            <a:ext cx="2468880" cy="15544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7" name="Shape 15"/>
          <p:cNvSpPr/>
          <p:nvPr/>
        </p:nvSpPr>
        <p:spPr>
          <a:xfrm>
            <a:off x="6309360" y="1280160"/>
            <a:ext cx="2468880" cy="54864"/>
          </a:xfrm>
          <a:prstGeom prst="rect">
            <a:avLst/>
          </a:prstGeom>
          <a:solidFill>
            <a:srgbClr val="3B5BDB"/>
          </a:solidFill>
          <a:ln/>
        </p:spPr>
      </p:sp>
      <p:sp>
        <p:nvSpPr>
          <p:cNvPr id="18" name="Text 16"/>
          <p:cNvSpPr/>
          <p:nvPr/>
        </p:nvSpPr>
        <p:spPr>
          <a:xfrm>
            <a:off x="6446520" y="1417320"/>
            <a:ext cx="2194560" cy="274320"/>
          </a:xfrm>
          <a:prstGeom prst="rect">
            <a:avLst/>
          </a:prstGeom>
          <a:noFill/>
          <a:ln/>
        </p:spPr>
        <p:txBody>
          <a:bodyPr wrap="square" lIns="0" tIns="0" rIns="0" bIns="0" rtlCol="0" anchor="ctr"/>
          <a:lstStyle/>
          <a:p>
            <a:pPr indent="0" marL="0">
              <a:buNone/>
            </a:pPr>
            <a:r>
              <a:rPr lang="en-US" sz="1300" b="1" dirty="0">
                <a:solidFill>
                  <a:srgbClr val="3B5BDB"/>
                </a:solidFill>
                <a:latin typeface="IBM Plex Sans" pitchFamily="34" charset="0"/>
                <a:ea typeface="IBM Plex Sans" pitchFamily="34" charset="-122"/>
                <a:cs typeface="IBM Plex Sans" pitchFamily="34" charset="-120"/>
              </a:rPr>
              <a:t>Agentic (Emerging)</a:t>
            </a:r>
            <a:endParaRPr lang="en-US" sz="1300" dirty="0"/>
          </a:p>
        </p:txBody>
      </p:sp>
      <p:sp>
        <p:nvSpPr>
          <p:cNvPr id="19" name="Text 17"/>
          <p:cNvSpPr/>
          <p:nvPr/>
        </p:nvSpPr>
        <p:spPr>
          <a:xfrm>
            <a:off x="6446520" y="1737360"/>
            <a:ext cx="2194560" cy="41148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Agent registries</a:t>
            </a:r>
            <a:endParaRPr lang="en-US" sz="1100" dirty="0"/>
          </a:p>
          <a:p>
            <a:pPr indent="0" marL="0">
              <a:buNone/>
            </a:pPr>
            <a:r>
              <a:rPr lang="en-US" sz="1100" dirty="0">
                <a:solidFill>
                  <a:srgbClr val="4A5568"/>
                </a:solidFill>
                <a:latin typeface="IBM Plex Sans" pitchFamily="34" charset="0"/>
                <a:ea typeface="IBM Plex Sans" pitchFamily="34" charset="-122"/>
                <a:cs typeface="IBM Plex Sans" pitchFamily="34" charset="-120"/>
              </a:rPr>
              <a:t>Capability directories</a:t>
            </a:r>
            <a:endParaRPr lang="en-US" sz="1100" dirty="0"/>
          </a:p>
        </p:txBody>
      </p:sp>
      <p:sp>
        <p:nvSpPr>
          <p:cNvPr id="20" name="Text 18"/>
          <p:cNvSpPr/>
          <p:nvPr/>
        </p:nvSpPr>
        <p:spPr>
          <a:xfrm>
            <a:off x="6446520" y="2286000"/>
            <a:ext cx="2194560" cy="411480"/>
          </a:xfrm>
          <a:prstGeom prst="rect">
            <a:avLst/>
          </a:prstGeom>
          <a:noFill/>
          <a:ln/>
        </p:spPr>
        <p:txBody>
          <a:bodyPr wrap="square" lIns="0" tIns="0" rIns="0" bIns="0" rtlCol="0" anchor="ctr"/>
          <a:lstStyle/>
          <a:p>
            <a:pPr indent="0" marL="0">
              <a:buNone/>
            </a:pPr>
            <a:r>
              <a:rPr lang="en-US" sz="1100" b="1" dirty="0">
                <a:solidFill>
                  <a:srgbClr val="1A2332"/>
                </a:solidFill>
                <a:latin typeface="IBM Plex Sans" pitchFamily="34" charset="0"/>
                <a:ea typeface="IBM Plex Sans" pitchFamily="34" charset="-122"/>
                <a:cs typeface="IBM Plex Sans" pitchFamily="34" charset="-120"/>
              </a:rPr>
              <a:t>Market access</a:t>
            </a:r>
            <a:endParaRPr lang="en-US" sz="1100" dirty="0"/>
          </a:p>
        </p:txBody>
      </p:sp>
      <p:sp>
        <p:nvSpPr>
          <p:cNvPr id="21" name="Shape 19"/>
          <p:cNvSpPr/>
          <p:nvPr/>
        </p:nvSpPr>
        <p:spPr>
          <a:xfrm>
            <a:off x="731520" y="3063240"/>
            <a:ext cx="7680960" cy="1691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2" name="Text 20"/>
          <p:cNvSpPr/>
          <p:nvPr/>
        </p:nvSpPr>
        <p:spPr>
          <a:xfrm>
            <a:off x="914400" y="3154680"/>
            <a:ext cx="7315200" cy="320040"/>
          </a:xfrm>
          <a:prstGeom prst="rect">
            <a:avLst/>
          </a:prstGeom>
          <a:noFill/>
          <a:ln/>
        </p:spPr>
        <p:txBody>
          <a:bodyPr wrap="square" lIns="0" tIns="0" rIns="0" bIns="0" rtlCol="0" anchor="ctr"/>
          <a:lstStyle/>
          <a:p>
            <a:pPr indent="0" marL="0">
              <a:buNone/>
            </a:pPr>
            <a:r>
              <a:rPr lang="en-US" sz="1400" b="1" dirty="0">
                <a:solidFill>
                  <a:srgbClr val="3B5BDB"/>
                </a:solidFill>
                <a:latin typeface="IBM Plex Sans" pitchFamily="34" charset="0"/>
                <a:ea typeface="IBM Plex Sans" pitchFamily="34" charset="-122"/>
                <a:cs typeface="IBM Plex Sans" pitchFamily="34" charset="-120"/>
              </a:rPr>
              <a:t>We operate the market. We don't sell position within it.</a:t>
            </a:r>
            <a:endParaRPr lang="en-US" sz="1400" dirty="0"/>
          </a:p>
        </p:txBody>
      </p:sp>
      <p:sp>
        <p:nvSpPr>
          <p:cNvPr id="23" name="Text 21"/>
          <p:cNvSpPr/>
          <p:nvPr/>
        </p:nvSpPr>
        <p:spPr>
          <a:xfrm>
            <a:off x="1097280" y="3566160"/>
            <a:ext cx="7132320" cy="256032"/>
          </a:xfrm>
          <a:prstGeom prst="rect">
            <a:avLst/>
          </a:prstGeom>
          <a:noFill/>
          <a:ln/>
        </p:spPr>
        <p:txBody>
          <a:bodyPr wrap="square" lIns="0" tIns="0" rIns="0" bIns="0" rtlCol="0" anchor="ctr"/>
          <a:lstStyle/>
          <a:p>
            <a:pPr indent="0" marL="0">
              <a:buNone/>
            </a:pPr>
            <a:r>
              <a:rPr lang="en-US" sz="1100" b="1" dirty="0">
                <a:solidFill>
                  <a:srgbClr val="1A2332"/>
                </a:solidFill>
              </a:rPr>
              <a:t>Market access fees: </a:t>
            </a:r>
            <a:pPr indent="0" marL="0">
              <a:buNone/>
            </a:pPr>
            <a:r>
              <a:rPr lang="en-US" sz="1100" dirty="0">
                <a:solidFill>
                  <a:srgbClr val="4A5568"/>
                </a:solidFill>
              </a:rPr>
              <a:t>Beacons register to access qualified, pre-structured demand</a:t>
            </a:r>
            <a:endParaRPr lang="en-US" sz="1100" dirty="0"/>
          </a:p>
        </p:txBody>
      </p:sp>
      <p:sp>
        <p:nvSpPr>
          <p:cNvPr id="24" name="Text 22"/>
          <p:cNvSpPr/>
          <p:nvPr/>
        </p:nvSpPr>
        <p:spPr>
          <a:xfrm>
            <a:off x="1097280" y="3840480"/>
            <a:ext cx="7132320" cy="256032"/>
          </a:xfrm>
          <a:prstGeom prst="rect">
            <a:avLst/>
          </a:prstGeom>
          <a:noFill/>
          <a:ln/>
        </p:spPr>
        <p:txBody>
          <a:bodyPr wrap="square" lIns="0" tIns="0" rIns="0" bIns="0" rtlCol="0" anchor="ctr"/>
          <a:lstStyle/>
          <a:p>
            <a:pPr indent="0" marL="0">
              <a:buNone/>
            </a:pPr>
            <a:r>
              <a:rPr lang="en-US" sz="1100" b="1" dirty="0">
                <a:solidFill>
                  <a:srgbClr val="1A2332"/>
                </a:solidFill>
              </a:rPr>
              <a:t>Match facilitation: </a:t>
            </a:r>
            <a:pPr indent="0" marL="0">
              <a:buNone/>
            </a:pPr>
            <a:r>
              <a:rPr lang="en-US" sz="1100" dirty="0">
                <a:solidFill>
                  <a:srgbClr val="4A5568"/>
                </a:solidFill>
              </a:rPr>
              <a:t>Fee on successful transactions — for matching, not payment processing</a:t>
            </a:r>
            <a:endParaRPr lang="en-US" sz="1100" dirty="0"/>
          </a:p>
        </p:txBody>
      </p:sp>
      <p:sp>
        <p:nvSpPr>
          <p:cNvPr id="25" name="Text 23"/>
          <p:cNvSpPr/>
          <p:nvPr/>
        </p:nvSpPr>
        <p:spPr>
          <a:xfrm>
            <a:off x="1097280" y="4114800"/>
            <a:ext cx="7132320" cy="256032"/>
          </a:xfrm>
          <a:prstGeom prst="rect">
            <a:avLst/>
          </a:prstGeom>
          <a:noFill/>
          <a:ln/>
        </p:spPr>
        <p:txBody>
          <a:bodyPr wrap="square" lIns="0" tIns="0" rIns="0" bIns="0" rtlCol="0" anchor="ctr"/>
          <a:lstStyle/>
          <a:p>
            <a:pPr indent="0" marL="0">
              <a:buNone/>
            </a:pPr>
            <a:r>
              <a:rPr lang="en-US" sz="1100" b="1" dirty="0">
                <a:solidFill>
                  <a:srgbClr val="1A2332"/>
                </a:solidFill>
              </a:rPr>
              <a:t>Enterprise licensing: </a:t>
            </a:r>
            <a:pPr indent="0" marL="0">
              <a:buNone/>
            </a:pPr>
            <a:r>
              <a:rPr lang="en-US" sz="1100" dirty="0">
                <a:solidFill>
                  <a:srgbClr val="4A5568"/>
                </a:solidFill>
              </a:rPr>
              <a:t>Scout and Beacon SDKs for organizations embedding agent commerce</a:t>
            </a:r>
            <a:endParaRPr lang="en-US" sz="1100" dirty="0"/>
          </a:p>
        </p:txBody>
      </p:sp>
      <p:sp>
        <p:nvSpPr>
          <p:cNvPr id="26" name="Text 24"/>
          <p:cNvSpPr/>
          <p:nvPr/>
        </p:nvSpPr>
        <p:spPr>
          <a:xfrm>
            <a:off x="1097280" y="4389120"/>
            <a:ext cx="7132320" cy="256032"/>
          </a:xfrm>
          <a:prstGeom prst="rect">
            <a:avLst/>
          </a:prstGeom>
          <a:noFill/>
          <a:ln/>
        </p:spPr>
        <p:txBody>
          <a:bodyPr wrap="square" lIns="0" tIns="0" rIns="0" bIns="0" rtlCol="0" anchor="ctr"/>
          <a:lstStyle/>
          <a:p>
            <a:pPr indent="0" marL="0">
              <a:buNone/>
            </a:pPr>
            <a:r>
              <a:rPr lang="en-US" sz="1100" b="1" dirty="0">
                <a:solidFill>
                  <a:srgbClr val="1A2332"/>
                </a:solidFill>
              </a:rPr>
              <a:t>Market intelligence: </a:t>
            </a:r>
            <a:pPr indent="0" marL="0">
              <a:buNone/>
            </a:pPr>
            <a:r>
              <a:rPr lang="en-US" sz="1100" dirty="0">
                <a:solidFill>
                  <a:srgbClr val="4A5568"/>
                </a:solidFill>
              </a:rPr>
              <a:t>Anonymized demand signals: what agents seek, where supply gaps exist</a:t>
            </a:r>
            <a:endParaRPr lang="en-US" sz="1100" dirty="0"/>
          </a:p>
        </p:txBody>
      </p:sp>
      <p:sp>
        <p:nvSpPr>
          <p:cNvPr id="27" name="Text 25"/>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73152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We don't compete with protocols.</a:t>
            </a:r>
            <a:endParaRPr lang="en-US" sz="2600" dirty="0"/>
          </a:p>
          <a:p>
            <a:pPr indent="0" marL="0">
              <a:buNone/>
            </a:pPr>
            <a:r>
              <a:rPr lang="en-US" sz="2600" b="1" dirty="0">
                <a:solidFill>
                  <a:srgbClr val="1A2332"/>
                </a:solidFill>
                <a:latin typeface="Space Grotesk" pitchFamily="34" charset="0"/>
                <a:ea typeface="Space Grotesk" pitchFamily="34" charset="-122"/>
                <a:cs typeface="Space Grotesk" pitchFamily="34" charset="-120"/>
              </a:rPr>
              <a:t>We sit above them.</a:t>
            </a:r>
            <a:endParaRPr lang="en-US" sz="2600" dirty="0"/>
          </a:p>
        </p:txBody>
      </p:sp>
      <p:sp>
        <p:nvSpPr>
          <p:cNvPr id="3" name="Shape 1"/>
          <p:cNvSpPr/>
          <p:nvPr/>
        </p:nvSpPr>
        <p:spPr>
          <a:xfrm>
            <a:off x="731520" y="1188720"/>
            <a:ext cx="7680960" cy="10972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Text 2"/>
          <p:cNvSpPr/>
          <p:nvPr/>
        </p:nvSpPr>
        <p:spPr>
          <a:xfrm>
            <a:off x="914400" y="1280160"/>
            <a:ext cx="7315200" cy="274320"/>
          </a:xfrm>
          <a:prstGeom prst="rect">
            <a:avLst/>
          </a:prstGeom>
          <a:noFill/>
          <a:ln/>
        </p:spPr>
        <p:txBody>
          <a:bodyPr wrap="square" lIns="0" tIns="0" rIns="0" bIns="0" rtlCol="0" anchor="ctr"/>
          <a:lstStyle/>
          <a:p>
            <a:pPr indent="0" marL="0">
              <a:buNone/>
            </a:pPr>
            <a:r>
              <a:rPr lang="en-US" sz="1200" b="1" dirty="0">
                <a:solidFill>
                  <a:srgbClr val="1A2332"/>
                </a:solidFill>
                <a:latin typeface="IBM Plex Sans" pitchFamily="34" charset="0"/>
                <a:ea typeface="IBM Plex Sans" pitchFamily="34" charset="-122"/>
                <a:cs typeface="IBM Plex Sans" pitchFamily="34" charset="-120"/>
              </a:rPr>
              <a:t>AURA integrates with the existing protocol stack:</a:t>
            </a:r>
            <a:endParaRPr lang="en-US" sz="1200" dirty="0"/>
          </a:p>
        </p:txBody>
      </p:sp>
      <p:sp>
        <p:nvSpPr>
          <p:cNvPr id="5" name="Shape 3"/>
          <p:cNvSpPr/>
          <p:nvPr/>
        </p:nvSpPr>
        <p:spPr>
          <a:xfrm>
            <a:off x="914400" y="1645920"/>
            <a:ext cx="1737360" cy="457200"/>
          </a:xfrm>
          <a:prstGeom prst="rect">
            <a:avLst/>
          </a:prstGeom>
          <a:solidFill>
            <a:srgbClr val="E8EDFF"/>
          </a:solidFill>
          <a:ln/>
        </p:spPr>
      </p:sp>
      <p:sp>
        <p:nvSpPr>
          <p:cNvPr id="6" name="Text 4"/>
          <p:cNvSpPr/>
          <p:nvPr/>
        </p:nvSpPr>
        <p:spPr>
          <a:xfrm>
            <a:off x="914400" y="1645920"/>
            <a:ext cx="1737360" cy="457200"/>
          </a:xfrm>
          <a:prstGeom prst="rect">
            <a:avLst/>
          </a:prstGeom>
          <a:noFill/>
          <a:ln/>
        </p:spPr>
        <p:txBody>
          <a:bodyPr wrap="square" lIns="0" tIns="0" rIns="0" bIns="0" rtlCol="0" anchor="ctr"/>
          <a:lstStyle/>
          <a:p>
            <a:pPr algn="ctr" indent="0" marL="0">
              <a:buNone/>
            </a:pPr>
            <a:r>
              <a:rPr lang="en-US" sz="1000" dirty="0">
                <a:solidFill>
                  <a:srgbClr val="3B5BDB"/>
                </a:solidFill>
                <a:latin typeface="IBM Plex Sans" pitchFamily="34" charset="0"/>
                <a:ea typeface="IBM Plex Sans" pitchFamily="34" charset="-122"/>
                <a:cs typeface="IBM Plex Sans" pitchFamily="34" charset="-120"/>
              </a:rPr>
              <a:t>MCP for data access</a:t>
            </a:r>
            <a:endParaRPr lang="en-US" sz="1000" dirty="0"/>
          </a:p>
        </p:txBody>
      </p:sp>
      <p:sp>
        <p:nvSpPr>
          <p:cNvPr id="7" name="Shape 5"/>
          <p:cNvSpPr/>
          <p:nvPr/>
        </p:nvSpPr>
        <p:spPr>
          <a:xfrm>
            <a:off x="2788920" y="1645920"/>
            <a:ext cx="1737360" cy="457200"/>
          </a:xfrm>
          <a:prstGeom prst="rect">
            <a:avLst/>
          </a:prstGeom>
          <a:solidFill>
            <a:srgbClr val="E8EDFF"/>
          </a:solidFill>
          <a:ln/>
        </p:spPr>
      </p:sp>
      <p:sp>
        <p:nvSpPr>
          <p:cNvPr id="8" name="Text 6"/>
          <p:cNvSpPr/>
          <p:nvPr/>
        </p:nvSpPr>
        <p:spPr>
          <a:xfrm>
            <a:off x="2788920" y="1645920"/>
            <a:ext cx="1737360" cy="457200"/>
          </a:xfrm>
          <a:prstGeom prst="rect">
            <a:avLst/>
          </a:prstGeom>
          <a:noFill/>
          <a:ln/>
        </p:spPr>
        <p:txBody>
          <a:bodyPr wrap="square" lIns="0" tIns="0" rIns="0" bIns="0" rtlCol="0" anchor="ctr"/>
          <a:lstStyle/>
          <a:p>
            <a:pPr algn="ctr" indent="0" marL="0">
              <a:buNone/>
            </a:pPr>
            <a:r>
              <a:rPr lang="en-US" sz="1000" dirty="0">
                <a:solidFill>
                  <a:srgbClr val="3B5BDB"/>
                </a:solidFill>
                <a:latin typeface="IBM Plex Sans" pitchFamily="34" charset="0"/>
                <a:ea typeface="IBM Plex Sans" pitchFamily="34" charset="-122"/>
                <a:cs typeface="IBM Plex Sans" pitchFamily="34" charset="-120"/>
              </a:rPr>
              <a:t>x402 for payments</a:t>
            </a:r>
            <a:endParaRPr lang="en-US" sz="1000" dirty="0"/>
          </a:p>
        </p:txBody>
      </p:sp>
      <p:sp>
        <p:nvSpPr>
          <p:cNvPr id="9" name="Shape 7"/>
          <p:cNvSpPr/>
          <p:nvPr/>
        </p:nvSpPr>
        <p:spPr>
          <a:xfrm>
            <a:off x="4663440" y="1645920"/>
            <a:ext cx="1737360" cy="457200"/>
          </a:xfrm>
          <a:prstGeom prst="rect">
            <a:avLst/>
          </a:prstGeom>
          <a:solidFill>
            <a:srgbClr val="E8EDFF"/>
          </a:solidFill>
          <a:ln/>
        </p:spPr>
      </p:sp>
      <p:sp>
        <p:nvSpPr>
          <p:cNvPr id="10" name="Text 8"/>
          <p:cNvSpPr/>
          <p:nvPr/>
        </p:nvSpPr>
        <p:spPr>
          <a:xfrm>
            <a:off x="4663440" y="1645920"/>
            <a:ext cx="1737360" cy="457200"/>
          </a:xfrm>
          <a:prstGeom prst="rect">
            <a:avLst/>
          </a:prstGeom>
          <a:noFill/>
          <a:ln/>
        </p:spPr>
        <p:txBody>
          <a:bodyPr wrap="square" lIns="0" tIns="0" rIns="0" bIns="0" rtlCol="0" anchor="ctr"/>
          <a:lstStyle/>
          <a:p>
            <a:pPr algn="ctr" indent="0" marL="0">
              <a:buNone/>
            </a:pPr>
            <a:r>
              <a:rPr lang="en-US" sz="1000" dirty="0">
                <a:solidFill>
                  <a:srgbClr val="3B5BDB"/>
                </a:solidFill>
                <a:latin typeface="IBM Plex Sans" pitchFamily="34" charset="0"/>
                <a:ea typeface="IBM Plex Sans" pitchFamily="34" charset="-122"/>
                <a:cs typeface="IBM Plex Sans" pitchFamily="34" charset="-120"/>
              </a:rPr>
              <a:t>A2A for agent communication</a:t>
            </a:r>
            <a:endParaRPr lang="en-US" sz="1000" dirty="0"/>
          </a:p>
        </p:txBody>
      </p:sp>
      <p:sp>
        <p:nvSpPr>
          <p:cNvPr id="11" name="Shape 9"/>
          <p:cNvSpPr/>
          <p:nvPr/>
        </p:nvSpPr>
        <p:spPr>
          <a:xfrm>
            <a:off x="6537960" y="1645920"/>
            <a:ext cx="1737360" cy="457200"/>
          </a:xfrm>
          <a:prstGeom prst="rect">
            <a:avLst/>
          </a:prstGeom>
          <a:solidFill>
            <a:srgbClr val="E8EDFF"/>
          </a:solidFill>
          <a:ln/>
        </p:spPr>
      </p:sp>
      <p:sp>
        <p:nvSpPr>
          <p:cNvPr id="12" name="Text 10"/>
          <p:cNvSpPr/>
          <p:nvPr/>
        </p:nvSpPr>
        <p:spPr>
          <a:xfrm>
            <a:off x="6537960" y="1645920"/>
            <a:ext cx="1737360" cy="457200"/>
          </a:xfrm>
          <a:prstGeom prst="rect">
            <a:avLst/>
          </a:prstGeom>
          <a:noFill/>
          <a:ln/>
        </p:spPr>
        <p:txBody>
          <a:bodyPr wrap="square" lIns="0" tIns="0" rIns="0" bIns="0" rtlCol="0" anchor="ctr"/>
          <a:lstStyle/>
          <a:p>
            <a:pPr algn="ctr" indent="0" marL="0">
              <a:buNone/>
            </a:pPr>
            <a:r>
              <a:rPr lang="en-US" sz="1000" dirty="0">
                <a:solidFill>
                  <a:srgbClr val="3B5BDB"/>
                </a:solidFill>
                <a:latin typeface="IBM Plex Sans" pitchFamily="34" charset="0"/>
                <a:ea typeface="IBM Plex Sans" pitchFamily="34" charset="-122"/>
                <a:cs typeface="IBM Plex Sans" pitchFamily="34" charset="-120"/>
              </a:rPr>
              <a:t>UCP/ACP for checkout</a:t>
            </a:r>
            <a:endParaRPr lang="en-US" sz="1000" dirty="0"/>
          </a:p>
        </p:txBody>
      </p:sp>
      <p:sp>
        <p:nvSpPr>
          <p:cNvPr id="13" name="Shape 11"/>
          <p:cNvSpPr/>
          <p:nvPr/>
        </p:nvSpPr>
        <p:spPr>
          <a:xfrm>
            <a:off x="731520" y="2514600"/>
            <a:ext cx="7680960" cy="457200"/>
          </a:xfrm>
          <a:prstGeom prst="rect">
            <a:avLst/>
          </a:prstGeom>
          <a:solidFill>
            <a:srgbClr val="3B5BDB"/>
          </a:solidFill>
          <a:ln/>
        </p:spPr>
      </p:sp>
      <p:sp>
        <p:nvSpPr>
          <p:cNvPr id="14" name="Text 12"/>
          <p:cNvSpPr/>
          <p:nvPr/>
        </p:nvSpPr>
        <p:spPr>
          <a:xfrm>
            <a:off x="731520" y="2514600"/>
            <a:ext cx="76809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IBM Plex Sans" pitchFamily="34" charset="0"/>
                <a:ea typeface="IBM Plex Sans" pitchFamily="34" charset="-122"/>
                <a:cs typeface="IBM Plex Sans" pitchFamily="34" charset="-120"/>
              </a:rPr>
              <a:t>AURA provides: discovery, matching, negotiation, trust, behavioral intelligence</a:t>
            </a:r>
            <a:endParaRPr lang="en-US" sz="1300" dirty="0"/>
          </a:p>
        </p:txBody>
      </p:sp>
      <p:sp>
        <p:nvSpPr>
          <p:cNvPr id="15" name="Shape 13"/>
          <p:cNvSpPr/>
          <p:nvPr/>
        </p:nvSpPr>
        <p:spPr>
          <a:xfrm>
            <a:off x="731520" y="3246120"/>
            <a:ext cx="7680960" cy="15544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Text 14"/>
          <p:cNvSpPr/>
          <p:nvPr/>
        </p:nvSpPr>
        <p:spPr>
          <a:xfrm>
            <a:off x="914400" y="3337560"/>
            <a:ext cx="3657600" cy="274320"/>
          </a:xfrm>
          <a:prstGeom prst="rect">
            <a:avLst/>
          </a:prstGeom>
          <a:noFill/>
          <a:ln/>
        </p:spPr>
        <p:txBody>
          <a:bodyPr wrap="square" lIns="0" tIns="0" rIns="0" bIns="0" rtlCol="0" anchor="ctr"/>
          <a:lstStyle/>
          <a:p>
            <a:pPr indent="0" marL="0">
              <a:buNone/>
            </a:pPr>
            <a:r>
              <a:rPr lang="en-US" sz="1400" b="1" dirty="0">
                <a:solidFill>
                  <a:srgbClr val="1A2332"/>
                </a:solidFill>
                <a:latin typeface="IBM Plex Sans" pitchFamily="34" charset="0"/>
                <a:ea typeface="IBM Plex Sans" pitchFamily="34" charset="-122"/>
                <a:cs typeface="IBM Plex Sans" pitchFamily="34" charset="-120"/>
              </a:rPr>
              <a:t>Direct competitor: Nekuda.ai</a:t>
            </a:r>
            <a:endParaRPr lang="en-US" sz="1400" dirty="0"/>
          </a:p>
        </p:txBody>
      </p:sp>
      <p:sp>
        <p:nvSpPr>
          <p:cNvPr id="17" name="Text 15"/>
          <p:cNvSpPr/>
          <p:nvPr/>
        </p:nvSpPr>
        <p:spPr>
          <a:xfrm>
            <a:off x="4572000" y="3337560"/>
            <a:ext cx="3657600" cy="274320"/>
          </a:xfrm>
          <a:prstGeom prst="rect">
            <a:avLst/>
          </a:prstGeom>
          <a:noFill/>
          <a:ln/>
        </p:spPr>
        <p:txBody>
          <a:bodyPr wrap="square" lIns="0" tIns="0" rIns="0" bIns="0" rtlCol="0" anchor="ctr"/>
          <a:lstStyle/>
          <a:p>
            <a:pPr algn="r" indent="0" marL="0">
              <a:buNone/>
            </a:pPr>
            <a:r>
              <a:rPr lang="en-US" sz="1100" dirty="0">
                <a:solidFill>
                  <a:srgbClr val="718096"/>
                </a:solidFill>
                <a:latin typeface="IBM Plex Sans" pitchFamily="34" charset="0"/>
                <a:ea typeface="IBM Plex Sans" pitchFamily="34" charset="-122"/>
                <a:cs typeface="IBM Plex Sans" pitchFamily="34" charset="-120"/>
              </a:rPr>
              <a:t>$5M raised from Madrona, Amex Ventures, Visa Ventures</a:t>
            </a:r>
            <a:endParaRPr lang="en-US" sz="1100" dirty="0"/>
          </a:p>
        </p:txBody>
      </p:sp>
      <p:sp>
        <p:nvSpPr>
          <p:cNvPr id="18" name="Text 16"/>
          <p:cNvSpPr/>
          <p:nvPr/>
        </p:nvSpPr>
        <p:spPr>
          <a:xfrm>
            <a:off x="914400" y="3657600"/>
            <a:ext cx="7315200" cy="1097280"/>
          </a:xfrm>
          <a:prstGeom prst="rect">
            <a:avLst/>
          </a:prstGeom>
          <a:noFill/>
          <a:ln/>
        </p:spPr>
        <p:txBody>
          <a:bodyPr wrap="square" lIns="0" tIns="0" rIns="0" bIns="0" rtlCol="0" anchor="ctr"/>
          <a:lstStyle/>
          <a:p>
            <a:pPr indent="0" marL="0">
              <a:buNone/>
            </a:pPr>
            <a:r>
              <a:rPr lang="en-US" sz="1100" b="1" dirty="0">
                <a:solidFill>
                  <a:srgbClr val="4A5568"/>
                </a:solidFill>
              </a:rPr>
              <a:t>Nekuda: </a:t>
            </a:r>
            <a:pPr indent="0" marL="0">
              <a:buNone/>
            </a:pPr>
            <a:r>
              <a:rPr lang="en-US" sz="1100" dirty="0">
                <a:solidFill>
                  <a:srgbClr val="4A5568"/>
                </a:solidFill>
              </a:rPr>
              <a:t>Payment SDK for agents. Merchant-only. Works within existing protocols. Covers checkout execution.</a:t>
            </a:r>
            <a:endParaRPr lang="en-US" sz="1100" dirty="0"/>
          </a:p>
          <a:p>
            <a:pPr indent="0" marL="0">
              <a:buNone/>
            </a:pPr>
            <a:endParaRPr lang="en-US" sz="1100" dirty="0"/>
          </a:p>
          <a:p>
            <a:pPr indent="0" marL="0">
              <a:buNone/>
            </a:pPr>
            <a:r>
              <a:rPr lang="en-US" sz="1100" b="1" dirty="0">
                <a:solidFill>
                  <a:srgbClr val="3B5BDB"/>
                </a:solidFill>
              </a:rPr>
              <a:t>AURA: </a:t>
            </a:r>
            <a:pPr indent="0" marL="0">
              <a:buNone/>
            </a:pPr>
            <a:r>
              <a:rPr lang="en-US" sz="1100" dirty="0">
                <a:solidFill>
                  <a:srgbClr val="4A5568"/>
                </a:solidFill>
              </a:rPr>
              <a:t>Everything before and around the payment: how the agent finds the right merchant, evaluates against user constraints, negotiates terms, and ensures the match serves the principal.</a:t>
            </a:r>
            <a:endParaRPr lang="en-US" sz="1100" dirty="0"/>
          </a:p>
          <a:p>
            <a:pPr indent="0" marL="0">
              <a:buNone/>
            </a:pPr>
            <a:endParaRPr lang="en-US" sz="1100" dirty="0"/>
          </a:p>
          <a:p>
            <a:pPr indent="0" marL="0">
              <a:buNone/>
            </a:pPr>
            <a:r>
              <a:rPr lang="en-US" sz="1000" i="1" dirty="0">
                <a:solidFill>
                  <a:srgbClr val="718096"/>
                </a:solidFill>
              </a:rPr>
              <a:t>Taking money from Visa and Amex creates structural tension with genuine agent advocacy. An agent optimizing for the user would naturally avoid 2-3% interchange fees.</a:t>
            </a:r>
            <a:endParaRPr lang="en-US" sz="1100" dirty="0"/>
          </a:p>
        </p:txBody>
      </p:sp>
      <p:sp>
        <p:nvSpPr>
          <p:cNvPr id="19" name="Text 17"/>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2600" b="1" dirty="0">
                <a:solidFill>
                  <a:srgbClr val="1A2332"/>
                </a:solidFill>
                <a:latin typeface="Space Grotesk" pitchFamily="34" charset="0"/>
                <a:ea typeface="Space Grotesk" pitchFamily="34" charset="-122"/>
                <a:cs typeface="Space Grotesk" pitchFamily="34" charset="-120"/>
              </a:rPr>
              <a:t>The Team</a:t>
            </a:r>
            <a:endParaRPr lang="en-US" sz="2600" dirty="0"/>
          </a:p>
        </p:txBody>
      </p:sp>
      <p:sp>
        <p:nvSpPr>
          <p:cNvPr id="3" name="Shape 1"/>
          <p:cNvSpPr/>
          <p:nvPr/>
        </p:nvSpPr>
        <p:spPr>
          <a:xfrm>
            <a:off x="731520" y="1005840"/>
            <a:ext cx="7680960" cy="13716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Shape 2"/>
          <p:cNvSpPr/>
          <p:nvPr/>
        </p:nvSpPr>
        <p:spPr>
          <a:xfrm>
            <a:off x="731520" y="1005840"/>
            <a:ext cx="54864" cy="1371600"/>
          </a:xfrm>
          <a:prstGeom prst="rect">
            <a:avLst/>
          </a:prstGeom>
          <a:solidFill>
            <a:srgbClr val="3B5BDB"/>
          </a:solidFill>
          <a:ln/>
        </p:spPr>
      </p:sp>
      <p:pic>
        <p:nvPicPr>
          <p:cNvPr id="5" name="Image 0" descr="preencoded.png">    </p:cNvPr>
          <p:cNvPicPr>
            <a:picLocks noChangeAspect="1"/>
          </p:cNvPicPr>
          <p:nvPr/>
        </p:nvPicPr>
        <p:blipFill>
          <a:blip r:embed="rId1"/>
          <a:stretch>
            <a:fillRect/>
          </a:stretch>
        </p:blipFill>
        <p:spPr>
          <a:xfrm>
            <a:off x="1005840" y="1188720"/>
            <a:ext cx="411480" cy="411480"/>
          </a:xfrm>
          <a:prstGeom prst="rect">
            <a:avLst/>
          </a:prstGeom>
        </p:spPr>
      </p:pic>
      <p:sp>
        <p:nvSpPr>
          <p:cNvPr id="6" name="Text 3"/>
          <p:cNvSpPr/>
          <p:nvPr/>
        </p:nvSpPr>
        <p:spPr>
          <a:xfrm>
            <a:off x="1645920" y="1097280"/>
            <a:ext cx="6400800" cy="320040"/>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Marc Massar, Founder &amp; CEO</a:t>
            </a:r>
            <a:endParaRPr lang="en-US" sz="1800" dirty="0"/>
          </a:p>
        </p:txBody>
      </p:sp>
      <p:sp>
        <p:nvSpPr>
          <p:cNvPr id="7" name="Text 4"/>
          <p:cNvSpPr/>
          <p:nvPr/>
        </p:nvSpPr>
        <p:spPr>
          <a:xfrm>
            <a:off x="1645920" y="1463040"/>
            <a:ext cx="6400800" cy="411480"/>
          </a:xfrm>
          <a:prstGeom prst="rect">
            <a:avLst/>
          </a:prstGeom>
          <a:noFill/>
          <a:ln/>
        </p:spPr>
        <p:txBody>
          <a:bodyPr wrap="square" lIns="0" tIns="0" rIns="0" bIns="0" rtlCol="0" anchor="ctr"/>
          <a:lstStyle/>
          <a:p>
            <a:pPr indent="0" marL="0">
              <a:buNone/>
            </a:pPr>
            <a:r>
              <a:rPr lang="en-US" sz="1200" dirty="0">
                <a:solidFill>
                  <a:srgbClr val="4A5568"/>
                </a:solidFill>
                <a:latin typeface="IBM Plex Sans" pitchFamily="34" charset="0"/>
                <a:ea typeface="IBM Plex Sans" pitchFamily="34" charset="-122"/>
                <a:cs typeface="IBM Plex Sans" pitchFamily="34" charset="-120"/>
              </a:rPr>
              <a:t>20+ years in payments and financial services. HSBC, Fiserv, Worldpay, JP Morgan.</a:t>
            </a:r>
            <a:endParaRPr lang="en-US" sz="1200" dirty="0"/>
          </a:p>
          <a:p>
            <a:pPr indent="0" marL="0">
              <a:buNone/>
            </a:pPr>
            <a:r>
              <a:rPr lang="en-US" sz="1200" dirty="0">
                <a:solidFill>
                  <a:srgbClr val="4A5568"/>
                </a:solidFill>
                <a:latin typeface="IBM Plex Sans" pitchFamily="34" charset="0"/>
                <a:ea typeface="IBM Plex Sans" pitchFamily="34" charset="-122"/>
                <a:cs typeface="IBM Plex Sans" pitchFamily="34" charset="-120"/>
              </a:rPr>
              <a:t>Processed trillions of dollars across platforms.</a:t>
            </a:r>
            <a:endParaRPr lang="en-US" sz="1200" dirty="0"/>
          </a:p>
        </p:txBody>
      </p:sp>
      <p:sp>
        <p:nvSpPr>
          <p:cNvPr id="8" name="Text 5"/>
          <p:cNvSpPr/>
          <p:nvPr/>
        </p:nvSpPr>
        <p:spPr>
          <a:xfrm>
            <a:off x="1645920" y="1920240"/>
            <a:ext cx="6400800" cy="320040"/>
          </a:xfrm>
          <a:prstGeom prst="rect">
            <a:avLst/>
          </a:prstGeom>
          <a:noFill/>
          <a:ln/>
        </p:spPr>
        <p:txBody>
          <a:bodyPr wrap="square" lIns="0" tIns="0" rIns="0" bIns="0" rtlCol="0" anchor="ctr"/>
          <a:lstStyle/>
          <a:p>
            <a:pPr indent="0" marL="0">
              <a:buNone/>
            </a:pPr>
            <a:r>
              <a:rPr lang="en-US" sz="1100" i="1" dirty="0">
                <a:solidFill>
                  <a:srgbClr val="3B5BDB"/>
                </a:solidFill>
                <a:latin typeface="IBM Plex Sans" pitchFamily="34" charset="0"/>
                <a:ea typeface="IBM Plex Sans" pitchFamily="34" charset="-122"/>
                <a:cs typeface="IBM Plex Sans" pitchFamily="34" charset="-120"/>
              </a:rPr>
              <a:t>The insight that led to AURA came from seeing both sides: the infrastructure that enables commerce and the power dynamics that distort it.</a:t>
            </a:r>
            <a:endParaRPr lang="en-US" sz="1100" dirty="0"/>
          </a:p>
        </p:txBody>
      </p:sp>
      <p:sp>
        <p:nvSpPr>
          <p:cNvPr id="9" name="Text 6"/>
          <p:cNvSpPr/>
          <p:nvPr/>
        </p:nvSpPr>
        <p:spPr>
          <a:xfrm>
            <a:off x="731520" y="2651760"/>
            <a:ext cx="2743200" cy="320040"/>
          </a:xfrm>
          <a:prstGeom prst="rect">
            <a:avLst/>
          </a:prstGeom>
          <a:noFill/>
          <a:ln/>
        </p:spPr>
        <p:txBody>
          <a:bodyPr wrap="square" lIns="0" tIns="0" rIns="0" bIns="0" rtlCol="0" anchor="ctr"/>
          <a:lstStyle/>
          <a:p>
            <a:pPr indent="0" marL="0">
              <a:buNone/>
            </a:pPr>
            <a:r>
              <a:rPr lang="en-US" sz="1500" b="1" dirty="0">
                <a:solidFill>
                  <a:srgbClr val="1A2332"/>
                </a:solidFill>
                <a:latin typeface="IBM Plex Sans" pitchFamily="34" charset="0"/>
                <a:ea typeface="IBM Plex Sans" pitchFamily="34" charset="-122"/>
                <a:cs typeface="IBM Plex Sans" pitchFamily="34" charset="-120"/>
              </a:rPr>
              <a:t>Advisors</a:t>
            </a:r>
            <a:endParaRPr lang="en-US" sz="1500" dirty="0"/>
          </a:p>
        </p:txBody>
      </p:sp>
      <p:sp>
        <p:nvSpPr>
          <p:cNvPr id="10" name="Shape 7"/>
          <p:cNvSpPr/>
          <p:nvPr/>
        </p:nvSpPr>
        <p:spPr>
          <a:xfrm>
            <a:off x="731520" y="3063240"/>
            <a:ext cx="2423160" cy="1005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1" name="Text 8"/>
          <p:cNvSpPr/>
          <p:nvPr/>
        </p:nvSpPr>
        <p:spPr>
          <a:xfrm>
            <a:off x="868680" y="3154680"/>
            <a:ext cx="2194560" cy="274320"/>
          </a:xfrm>
          <a:prstGeom prst="rect">
            <a:avLst/>
          </a:prstGeom>
          <a:noFill/>
          <a:ln/>
        </p:spPr>
        <p:txBody>
          <a:bodyPr wrap="square" lIns="0" tIns="0" rIns="0" bIns="0" rtlCol="0" anchor="ctr"/>
          <a:lstStyle/>
          <a:p>
            <a:pPr indent="0" marL="0">
              <a:buNone/>
            </a:pPr>
            <a:r>
              <a:rPr lang="en-US" sz="1300" b="1" dirty="0">
                <a:solidFill>
                  <a:srgbClr val="1A2332"/>
                </a:solidFill>
                <a:latin typeface="IBM Plex Sans" pitchFamily="34" charset="0"/>
                <a:ea typeface="IBM Plex Sans" pitchFamily="34" charset="-122"/>
                <a:cs typeface="IBM Plex Sans" pitchFamily="34" charset="-120"/>
              </a:rPr>
              <a:t>S. Welland</a:t>
            </a:r>
            <a:endParaRPr lang="en-US" sz="1300" dirty="0"/>
          </a:p>
        </p:txBody>
      </p:sp>
      <p:sp>
        <p:nvSpPr>
          <p:cNvPr id="12" name="Text 9"/>
          <p:cNvSpPr/>
          <p:nvPr/>
        </p:nvSpPr>
        <p:spPr>
          <a:xfrm>
            <a:off x="868680" y="3429000"/>
            <a:ext cx="2194560" cy="228600"/>
          </a:xfrm>
          <a:prstGeom prst="rect">
            <a:avLst/>
          </a:prstGeom>
          <a:noFill/>
          <a:ln/>
        </p:spPr>
        <p:txBody>
          <a:bodyPr wrap="square" lIns="0" tIns="0" rIns="0" bIns="0" rtlCol="0" anchor="ctr"/>
          <a:lstStyle/>
          <a:p>
            <a:pPr indent="0" marL="0">
              <a:buNone/>
            </a:pPr>
            <a:r>
              <a:rPr lang="en-US" sz="1000" dirty="0">
                <a:solidFill>
                  <a:srgbClr val="3B5BDB"/>
                </a:solidFill>
                <a:latin typeface="IBM Plex Sans" pitchFamily="34" charset="0"/>
                <a:ea typeface="IBM Plex Sans" pitchFamily="34" charset="-122"/>
                <a:cs typeface="IBM Plex Sans" pitchFamily="34" charset="-120"/>
              </a:rPr>
              <a:t>Technical Advisor</a:t>
            </a:r>
            <a:endParaRPr lang="en-US" sz="1000" dirty="0"/>
          </a:p>
        </p:txBody>
      </p:sp>
      <p:sp>
        <p:nvSpPr>
          <p:cNvPr id="13" name="Text 10"/>
          <p:cNvSpPr/>
          <p:nvPr/>
        </p:nvSpPr>
        <p:spPr>
          <a:xfrm>
            <a:off x="868680" y="3657600"/>
            <a:ext cx="2194560" cy="320040"/>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Generative development and payment systems</a:t>
            </a:r>
            <a:endParaRPr lang="en-US" sz="1000" dirty="0"/>
          </a:p>
        </p:txBody>
      </p:sp>
      <p:sp>
        <p:nvSpPr>
          <p:cNvPr id="14" name="Shape 11"/>
          <p:cNvSpPr/>
          <p:nvPr/>
        </p:nvSpPr>
        <p:spPr>
          <a:xfrm>
            <a:off x="3520440" y="3063240"/>
            <a:ext cx="2423160" cy="1005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5" name="Text 12"/>
          <p:cNvSpPr/>
          <p:nvPr/>
        </p:nvSpPr>
        <p:spPr>
          <a:xfrm>
            <a:off x="3657600" y="3154680"/>
            <a:ext cx="2194560" cy="274320"/>
          </a:xfrm>
          <a:prstGeom prst="rect">
            <a:avLst/>
          </a:prstGeom>
          <a:noFill/>
          <a:ln/>
        </p:spPr>
        <p:txBody>
          <a:bodyPr wrap="square" lIns="0" tIns="0" rIns="0" bIns="0" rtlCol="0" anchor="ctr"/>
          <a:lstStyle/>
          <a:p>
            <a:pPr indent="0" marL="0">
              <a:buNone/>
            </a:pPr>
            <a:r>
              <a:rPr lang="en-US" sz="1300" b="1" dirty="0">
                <a:solidFill>
                  <a:srgbClr val="1A2332"/>
                </a:solidFill>
                <a:latin typeface="IBM Plex Sans" pitchFamily="34" charset="0"/>
                <a:ea typeface="IBM Plex Sans" pitchFamily="34" charset="-122"/>
                <a:cs typeface="IBM Plex Sans" pitchFamily="34" charset="-120"/>
              </a:rPr>
              <a:t>Shane Happach</a:t>
            </a:r>
            <a:endParaRPr lang="en-US" sz="1300" dirty="0"/>
          </a:p>
        </p:txBody>
      </p:sp>
      <p:sp>
        <p:nvSpPr>
          <p:cNvPr id="16" name="Text 13"/>
          <p:cNvSpPr/>
          <p:nvPr/>
        </p:nvSpPr>
        <p:spPr>
          <a:xfrm>
            <a:off x="3657600" y="3429000"/>
            <a:ext cx="2194560" cy="228600"/>
          </a:xfrm>
          <a:prstGeom prst="rect">
            <a:avLst/>
          </a:prstGeom>
          <a:noFill/>
          <a:ln/>
        </p:spPr>
        <p:txBody>
          <a:bodyPr wrap="square" lIns="0" tIns="0" rIns="0" bIns="0" rtlCol="0" anchor="ctr"/>
          <a:lstStyle/>
          <a:p>
            <a:pPr indent="0" marL="0">
              <a:buNone/>
            </a:pPr>
            <a:r>
              <a:rPr lang="en-US" sz="1000" dirty="0">
                <a:solidFill>
                  <a:srgbClr val="3B5BDB"/>
                </a:solidFill>
                <a:latin typeface="IBM Plex Sans" pitchFamily="34" charset="0"/>
                <a:ea typeface="IBM Plex Sans" pitchFamily="34" charset="-122"/>
                <a:cs typeface="IBM Plex Sans" pitchFamily="34" charset="-120"/>
              </a:rPr>
              <a:t>Industry Advisor</a:t>
            </a:r>
            <a:endParaRPr lang="en-US" sz="1000" dirty="0"/>
          </a:p>
        </p:txBody>
      </p:sp>
      <p:sp>
        <p:nvSpPr>
          <p:cNvPr id="17" name="Text 14"/>
          <p:cNvSpPr/>
          <p:nvPr/>
        </p:nvSpPr>
        <p:spPr>
          <a:xfrm>
            <a:off x="3657600" y="3657600"/>
            <a:ext cx="2194560" cy="320040"/>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CEO of Coda (formerly Worldpay, Mollie)</a:t>
            </a:r>
            <a:endParaRPr lang="en-US" sz="1000" dirty="0"/>
          </a:p>
        </p:txBody>
      </p:sp>
      <p:sp>
        <p:nvSpPr>
          <p:cNvPr id="18" name="Shape 15"/>
          <p:cNvSpPr/>
          <p:nvPr/>
        </p:nvSpPr>
        <p:spPr>
          <a:xfrm>
            <a:off x="6309360" y="3063240"/>
            <a:ext cx="2423160" cy="1005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9" name="Text 16"/>
          <p:cNvSpPr/>
          <p:nvPr/>
        </p:nvSpPr>
        <p:spPr>
          <a:xfrm>
            <a:off x="6446520" y="3154680"/>
            <a:ext cx="2194560" cy="274320"/>
          </a:xfrm>
          <a:prstGeom prst="rect">
            <a:avLst/>
          </a:prstGeom>
          <a:noFill/>
          <a:ln/>
        </p:spPr>
        <p:txBody>
          <a:bodyPr wrap="square" lIns="0" tIns="0" rIns="0" bIns="0" rtlCol="0" anchor="ctr"/>
          <a:lstStyle/>
          <a:p>
            <a:pPr indent="0" marL="0">
              <a:buNone/>
            </a:pPr>
            <a:r>
              <a:rPr lang="en-US" sz="1300" b="1" dirty="0">
                <a:solidFill>
                  <a:srgbClr val="1A2332"/>
                </a:solidFill>
                <a:latin typeface="IBM Plex Sans" pitchFamily="34" charset="0"/>
                <a:ea typeface="IBM Plex Sans" pitchFamily="34" charset="-122"/>
                <a:cs typeface="IBM Plex Sans" pitchFamily="34" charset="-120"/>
              </a:rPr>
              <a:t>Renee Murphy</a:t>
            </a:r>
            <a:endParaRPr lang="en-US" sz="1300" dirty="0"/>
          </a:p>
        </p:txBody>
      </p:sp>
      <p:sp>
        <p:nvSpPr>
          <p:cNvPr id="20" name="Text 17"/>
          <p:cNvSpPr/>
          <p:nvPr/>
        </p:nvSpPr>
        <p:spPr>
          <a:xfrm>
            <a:off x="6446520" y="3429000"/>
            <a:ext cx="2194560" cy="228600"/>
          </a:xfrm>
          <a:prstGeom prst="rect">
            <a:avLst/>
          </a:prstGeom>
          <a:noFill/>
          <a:ln/>
        </p:spPr>
        <p:txBody>
          <a:bodyPr wrap="square" lIns="0" tIns="0" rIns="0" bIns="0" rtlCol="0" anchor="ctr"/>
          <a:lstStyle/>
          <a:p>
            <a:pPr indent="0" marL="0">
              <a:buNone/>
            </a:pPr>
            <a:r>
              <a:rPr lang="en-US" sz="1000" dirty="0">
                <a:solidFill>
                  <a:srgbClr val="3B5BDB"/>
                </a:solidFill>
                <a:latin typeface="IBM Plex Sans" pitchFamily="34" charset="0"/>
                <a:ea typeface="IBM Plex Sans" pitchFamily="34" charset="-122"/>
                <a:cs typeface="IBM Plex Sans" pitchFamily="34" charset="-120"/>
              </a:rPr>
              <a:t>Governance &amp; Policy</a:t>
            </a:r>
            <a:endParaRPr lang="en-US" sz="1000" dirty="0"/>
          </a:p>
        </p:txBody>
      </p:sp>
      <p:sp>
        <p:nvSpPr>
          <p:cNvPr id="21" name="Text 18"/>
          <p:cNvSpPr/>
          <p:nvPr/>
        </p:nvSpPr>
        <p:spPr>
          <a:xfrm>
            <a:off x="6446520" y="3657600"/>
            <a:ext cx="2194560" cy="320040"/>
          </a:xfrm>
          <a:prstGeom prst="rect">
            <a:avLst/>
          </a:prstGeom>
          <a:noFill/>
          <a:ln/>
        </p:spPr>
        <p:txBody>
          <a:bodyPr wrap="square" lIns="0" tIns="0" rIns="0" bIns="0" rtlCol="0" anchor="ctr"/>
          <a:lstStyle/>
          <a:p>
            <a:pPr indent="0" marL="0">
              <a:buNone/>
            </a:pPr>
            <a:r>
              <a:rPr lang="en-US" sz="1000" dirty="0">
                <a:solidFill>
                  <a:srgbClr val="4A5568"/>
                </a:solidFill>
                <a:latin typeface="IBM Plex Sans" pitchFamily="34" charset="0"/>
                <a:ea typeface="IBM Plex Sans" pitchFamily="34" charset="-122"/>
                <a:cs typeface="IBM Plex Sans" pitchFamily="34" charset="-120"/>
              </a:rPr>
              <a:t>Former Forrester lead analyst for risk, audit, sustainability</a:t>
            </a:r>
            <a:endParaRPr lang="en-US" sz="1000" dirty="0"/>
          </a:p>
        </p:txBody>
      </p:sp>
      <p:sp>
        <p:nvSpPr>
          <p:cNvPr id="22" name="Text 19"/>
          <p:cNvSpPr/>
          <p:nvPr/>
        </p:nvSpPr>
        <p:spPr>
          <a:xfrm>
            <a:off x="731520" y="4251960"/>
            <a:ext cx="2743200" cy="274320"/>
          </a:xfrm>
          <a:prstGeom prst="rect">
            <a:avLst/>
          </a:prstGeom>
          <a:noFill/>
          <a:ln/>
        </p:spPr>
        <p:txBody>
          <a:bodyPr wrap="square" lIns="0" tIns="0" rIns="0" bIns="0" rtlCol="0" anchor="ctr"/>
          <a:lstStyle/>
          <a:p>
            <a:pPr indent="0" marL="0">
              <a:buNone/>
            </a:pPr>
            <a:r>
              <a:rPr lang="en-US" sz="1200" b="1" dirty="0">
                <a:solidFill>
                  <a:srgbClr val="1A2332"/>
                </a:solidFill>
                <a:latin typeface="IBM Plex Sans" pitchFamily="34" charset="0"/>
                <a:ea typeface="IBM Plex Sans" pitchFamily="34" charset="-122"/>
                <a:cs typeface="IBM Plex Sans" pitchFamily="34" charset="-120"/>
              </a:rPr>
              <a:t>Hiring plan with this raise:</a:t>
            </a:r>
            <a:endParaRPr lang="en-US" sz="1200" dirty="0"/>
          </a:p>
        </p:txBody>
      </p:sp>
      <p:sp>
        <p:nvSpPr>
          <p:cNvPr id="23" name="Text 20"/>
          <p:cNvSpPr/>
          <p:nvPr/>
        </p:nvSpPr>
        <p:spPr>
          <a:xfrm>
            <a:off x="3474720" y="4251960"/>
            <a:ext cx="4937760" cy="27432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Senior Engineer (full-time)   •   Engineer (part-time)   •   Product/GTM Lead (part-time)</a:t>
            </a:r>
            <a:endParaRPr lang="en-US" sz="1100" dirty="0"/>
          </a:p>
        </p:txBody>
      </p:sp>
      <p:sp>
        <p:nvSpPr>
          <p:cNvPr id="24" name="Text 21"/>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5BDB"/>
          </a:solidFill>
          <a:ln/>
        </p:spPr>
      </p:sp>
      <p:sp>
        <p:nvSpPr>
          <p:cNvPr id="3" name="Text 1"/>
          <p:cNvSpPr/>
          <p:nvPr/>
        </p:nvSpPr>
        <p:spPr>
          <a:xfrm>
            <a:off x="731520" y="365760"/>
            <a:ext cx="7680960" cy="457200"/>
          </a:xfrm>
          <a:prstGeom prst="rect">
            <a:avLst/>
          </a:prstGeom>
          <a:noFill/>
          <a:ln/>
        </p:spPr>
        <p:txBody>
          <a:bodyPr wrap="square" lIns="0" tIns="0" rIns="0" bIns="0" rtlCol="0" anchor="ctr"/>
          <a:lstStyle/>
          <a:p>
            <a:pPr indent="0" marL="0">
              <a:buNone/>
            </a:pPr>
            <a:r>
              <a:rPr lang="en-US" sz="2000" b="1" dirty="0">
                <a:solidFill>
                  <a:srgbClr val="5C7CFA"/>
                </a:solidFill>
                <a:latin typeface="IBM Plex Sans" pitchFamily="34" charset="0"/>
                <a:ea typeface="IBM Plex Sans" pitchFamily="34" charset="-122"/>
                <a:cs typeface="IBM Plex Sans" pitchFamily="34" charset="-120"/>
              </a:rPr>
              <a:t>Pre-Seed  •  £500K-£750K  •  12-18 months</a:t>
            </a:r>
            <a:endParaRPr lang="en-US" sz="2000" dirty="0"/>
          </a:p>
        </p:txBody>
      </p:sp>
      <p:sp>
        <p:nvSpPr>
          <p:cNvPr id="4" name="Text 2"/>
          <p:cNvSpPr/>
          <p:nvPr/>
        </p:nvSpPr>
        <p:spPr>
          <a:xfrm>
            <a:off x="731520" y="1051560"/>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IBM Plex Sans" pitchFamily="34" charset="0"/>
                <a:ea typeface="IBM Plex Sans" pitchFamily="34" charset="-122"/>
                <a:cs typeface="IBM Plex Sans" pitchFamily="34" charset="-120"/>
              </a:rPr>
              <a:t>12-month targets</a:t>
            </a:r>
            <a:endParaRPr lang="en-US" sz="1400" dirty="0"/>
          </a:p>
        </p:txBody>
      </p:sp>
      <p:sp>
        <p:nvSpPr>
          <p:cNvPr id="5" name="Text 3"/>
          <p:cNvSpPr/>
          <p:nvPr/>
        </p:nvSpPr>
        <p:spPr>
          <a:xfrm>
            <a:off x="914400" y="1417320"/>
            <a:ext cx="3657600" cy="274320"/>
          </a:xfrm>
          <a:prstGeom prst="rect">
            <a:avLst/>
          </a:prstGeom>
          <a:noFill/>
          <a:ln/>
        </p:spPr>
        <p:txBody>
          <a:bodyPr wrap="square" lIns="0" tIns="0" rIns="0" bIns="0" rtlCol="0" anchor="ctr"/>
          <a:lstStyle/>
          <a:p>
            <a:pPr indent="0" marL="0">
              <a:buNone/>
            </a:pPr>
            <a:r>
              <a:rPr lang="en-US" sz="1200" dirty="0">
                <a:solidFill>
                  <a:srgbClr val="5C7CFA"/>
                </a:solidFill>
                <a:latin typeface="IBM Plex Sans" pitchFamily="34" charset="0"/>
                <a:ea typeface="IBM Plex Sans" pitchFamily="34" charset="-122"/>
                <a:cs typeface="IBM Plex Sans" pitchFamily="34" charset="-120"/>
              </a:rPr>
              <a:t>→ </a:t>
            </a:r>
            <a:pPr indent="0" marL="0">
              <a:buNone/>
            </a:pPr>
            <a:r>
              <a:rPr lang="en-US" sz="1200" dirty="0">
                <a:solidFill>
                  <a:srgbClr val="CBD5E0"/>
                </a:solidFill>
                <a:latin typeface="IBM Plex Sans" pitchFamily="34" charset="0"/>
                <a:ea typeface="IBM Plex Sans" pitchFamily="34" charset="-122"/>
                <a:cs typeface="IBM Plex Sans" pitchFamily="34" charset="-120"/>
              </a:rPr>
              <a:t>Scout It! iOS app live with real transactions</a:t>
            </a:r>
            <a:endParaRPr lang="en-US" sz="1200" dirty="0"/>
          </a:p>
        </p:txBody>
      </p:sp>
      <p:sp>
        <p:nvSpPr>
          <p:cNvPr id="6" name="Text 4"/>
          <p:cNvSpPr/>
          <p:nvPr/>
        </p:nvSpPr>
        <p:spPr>
          <a:xfrm>
            <a:off x="914400" y="1737360"/>
            <a:ext cx="3657600" cy="274320"/>
          </a:xfrm>
          <a:prstGeom prst="rect">
            <a:avLst/>
          </a:prstGeom>
          <a:noFill/>
          <a:ln/>
        </p:spPr>
        <p:txBody>
          <a:bodyPr wrap="square" lIns="0" tIns="0" rIns="0" bIns="0" rtlCol="0" anchor="ctr"/>
          <a:lstStyle/>
          <a:p>
            <a:pPr indent="0" marL="0">
              <a:buNone/>
            </a:pPr>
            <a:r>
              <a:rPr lang="en-US" sz="1200" dirty="0">
                <a:solidFill>
                  <a:srgbClr val="5C7CFA"/>
                </a:solidFill>
                <a:latin typeface="IBM Plex Sans" pitchFamily="34" charset="0"/>
                <a:ea typeface="IBM Plex Sans" pitchFamily="34" charset="-122"/>
                <a:cs typeface="IBM Plex Sans" pitchFamily="34" charset="-120"/>
              </a:rPr>
              <a:t>→ </a:t>
            </a:r>
            <a:pPr indent="0" marL="0">
              <a:buNone/>
            </a:pPr>
            <a:r>
              <a:rPr lang="en-US" sz="1200" dirty="0">
                <a:solidFill>
                  <a:srgbClr val="CBD5E0"/>
                </a:solidFill>
                <a:latin typeface="IBM Plex Sans" pitchFamily="34" charset="0"/>
                <a:ea typeface="IBM Plex Sans" pitchFamily="34" charset="-122"/>
                <a:cs typeface="IBM Plex Sans" pitchFamily="34" charset="-120"/>
              </a:rPr>
              <a:t>Beacon integrations with initial merchant partners</a:t>
            </a:r>
            <a:endParaRPr lang="en-US" sz="1200" dirty="0"/>
          </a:p>
        </p:txBody>
      </p:sp>
      <p:sp>
        <p:nvSpPr>
          <p:cNvPr id="7" name="Text 5"/>
          <p:cNvSpPr/>
          <p:nvPr/>
        </p:nvSpPr>
        <p:spPr>
          <a:xfrm>
            <a:off x="914400" y="2057400"/>
            <a:ext cx="3657600" cy="274320"/>
          </a:xfrm>
          <a:prstGeom prst="rect">
            <a:avLst/>
          </a:prstGeom>
          <a:noFill/>
          <a:ln/>
        </p:spPr>
        <p:txBody>
          <a:bodyPr wrap="square" lIns="0" tIns="0" rIns="0" bIns="0" rtlCol="0" anchor="ctr"/>
          <a:lstStyle/>
          <a:p>
            <a:pPr indent="0" marL="0">
              <a:buNone/>
            </a:pPr>
            <a:r>
              <a:rPr lang="en-US" sz="1200" dirty="0">
                <a:solidFill>
                  <a:srgbClr val="5C7CFA"/>
                </a:solidFill>
                <a:latin typeface="IBM Plex Sans" pitchFamily="34" charset="0"/>
                <a:ea typeface="IBM Plex Sans" pitchFamily="34" charset="-122"/>
                <a:cs typeface="IBM Plex Sans" pitchFamily="34" charset="-120"/>
              </a:rPr>
              <a:t>→ </a:t>
            </a:r>
            <a:pPr indent="0" marL="0">
              <a:buNone/>
            </a:pPr>
            <a:r>
              <a:rPr lang="en-US" sz="1200" dirty="0">
                <a:solidFill>
                  <a:srgbClr val="CBD5E0"/>
                </a:solidFill>
                <a:latin typeface="IBM Plex Sans" pitchFamily="34" charset="0"/>
                <a:ea typeface="IBM Plex Sans" pitchFamily="34" charset="-122"/>
                <a:cs typeface="IBM Plex Sans" pitchFamily="34" charset="-120"/>
              </a:rPr>
              <a:t>AURA Core at production scale</a:t>
            </a:r>
            <a:endParaRPr lang="en-US" sz="1200" dirty="0"/>
          </a:p>
        </p:txBody>
      </p:sp>
      <p:sp>
        <p:nvSpPr>
          <p:cNvPr id="8" name="Text 6"/>
          <p:cNvSpPr/>
          <p:nvPr/>
        </p:nvSpPr>
        <p:spPr>
          <a:xfrm>
            <a:off x="914400" y="2377440"/>
            <a:ext cx="3657600" cy="274320"/>
          </a:xfrm>
          <a:prstGeom prst="rect">
            <a:avLst/>
          </a:prstGeom>
          <a:noFill/>
          <a:ln/>
        </p:spPr>
        <p:txBody>
          <a:bodyPr wrap="square" lIns="0" tIns="0" rIns="0" bIns="0" rtlCol="0" anchor="ctr"/>
          <a:lstStyle/>
          <a:p>
            <a:pPr indent="0" marL="0">
              <a:buNone/>
            </a:pPr>
            <a:r>
              <a:rPr lang="en-US" sz="1200" dirty="0">
                <a:solidFill>
                  <a:srgbClr val="5C7CFA"/>
                </a:solidFill>
                <a:latin typeface="IBM Plex Sans" pitchFamily="34" charset="0"/>
                <a:ea typeface="IBM Plex Sans" pitchFamily="34" charset="-122"/>
                <a:cs typeface="IBM Plex Sans" pitchFamily="34" charset="-120"/>
              </a:rPr>
              <a:t>→ </a:t>
            </a:r>
            <a:pPr indent="0" marL="0">
              <a:buNone/>
            </a:pPr>
            <a:r>
              <a:rPr lang="en-US" sz="1200" dirty="0">
                <a:solidFill>
                  <a:srgbClr val="CBD5E0"/>
                </a:solidFill>
                <a:latin typeface="IBM Plex Sans" pitchFamily="34" charset="0"/>
                <a:ea typeface="IBM Plex Sans" pitchFamily="34" charset="-122"/>
                <a:cs typeface="IBM Plex Sans" pitchFamily="34" charset="-120"/>
              </a:rPr>
              <a:t>Protocol spec adopted by external developers</a:t>
            </a:r>
            <a:endParaRPr lang="en-US" sz="1200" dirty="0"/>
          </a:p>
        </p:txBody>
      </p:sp>
      <p:sp>
        <p:nvSpPr>
          <p:cNvPr id="9" name="Text 7"/>
          <p:cNvSpPr/>
          <p:nvPr/>
        </p:nvSpPr>
        <p:spPr>
          <a:xfrm>
            <a:off x="4754880" y="1051560"/>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IBM Plex Sans" pitchFamily="34" charset="0"/>
                <a:ea typeface="IBM Plex Sans" pitchFamily="34" charset="-122"/>
                <a:cs typeface="IBM Plex Sans" pitchFamily="34" charset="-120"/>
              </a:rPr>
              <a:t>18-month targets</a:t>
            </a:r>
            <a:endParaRPr lang="en-US" sz="1400" dirty="0"/>
          </a:p>
        </p:txBody>
      </p:sp>
      <p:sp>
        <p:nvSpPr>
          <p:cNvPr id="10" name="Text 8"/>
          <p:cNvSpPr/>
          <p:nvPr/>
        </p:nvSpPr>
        <p:spPr>
          <a:xfrm>
            <a:off x="4937760" y="1417320"/>
            <a:ext cx="3657600" cy="274320"/>
          </a:xfrm>
          <a:prstGeom prst="rect">
            <a:avLst/>
          </a:prstGeom>
          <a:noFill/>
          <a:ln/>
        </p:spPr>
        <p:txBody>
          <a:bodyPr wrap="square" lIns="0" tIns="0" rIns="0" bIns="0" rtlCol="0" anchor="ctr"/>
          <a:lstStyle/>
          <a:p>
            <a:pPr indent="0" marL="0">
              <a:buNone/>
            </a:pPr>
            <a:r>
              <a:rPr lang="en-US" sz="1200" dirty="0">
                <a:solidFill>
                  <a:srgbClr val="5C7CFA"/>
                </a:solidFill>
                <a:latin typeface="IBM Plex Sans" pitchFamily="34" charset="0"/>
                <a:ea typeface="IBM Plex Sans" pitchFamily="34" charset="-122"/>
                <a:cs typeface="IBM Plex Sans" pitchFamily="34" charset="-120"/>
              </a:rPr>
              <a:t>→ </a:t>
            </a:r>
            <a:pPr indent="0" marL="0">
              <a:buNone/>
            </a:pPr>
            <a:r>
              <a:rPr lang="en-US" sz="1200" dirty="0">
                <a:solidFill>
                  <a:srgbClr val="CBD5E0"/>
                </a:solidFill>
                <a:latin typeface="IBM Plex Sans" pitchFamily="34" charset="0"/>
                <a:ea typeface="IBM Plex Sans" pitchFamily="34" charset="-122"/>
                <a:cs typeface="IBM Plex Sans" pitchFamily="34" charset="-120"/>
              </a:rPr>
              <a:t>Enterprise licensing pipeline active</a:t>
            </a:r>
            <a:endParaRPr lang="en-US" sz="1200" dirty="0"/>
          </a:p>
        </p:txBody>
      </p:sp>
      <p:sp>
        <p:nvSpPr>
          <p:cNvPr id="11" name="Text 9"/>
          <p:cNvSpPr/>
          <p:nvPr/>
        </p:nvSpPr>
        <p:spPr>
          <a:xfrm>
            <a:off x="4937760" y="1737360"/>
            <a:ext cx="3657600" cy="274320"/>
          </a:xfrm>
          <a:prstGeom prst="rect">
            <a:avLst/>
          </a:prstGeom>
          <a:noFill/>
          <a:ln/>
        </p:spPr>
        <p:txBody>
          <a:bodyPr wrap="square" lIns="0" tIns="0" rIns="0" bIns="0" rtlCol="0" anchor="ctr"/>
          <a:lstStyle/>
          <a:p>
            <a:pPr indent="0" marL="0">
              <a:buNone/>
            </a:pPr>
            <a:r>
              <a:rPr lang="en-US" sz="1200" dirty="0">
                <a:solidFill>
                  <a:srgbClr val="5C7CFA"/>
                </a:solidFill>
                <a:latin typeface="IBM Plex Sans" pitchFamily="34" charset="0"/>
                <a:ea typeface="IBM Plex Sans" pitchFamily="34" charset="-122"/>
                <a:cs typeface="IBM Plex Sans" pitchFamily="34" charset="-120"/>
              </a:rPr>
              <a:t>→ </a:t>
            </a:r>
            <a:pPr indent="0" marL="0">
              <a:buNone/>
            </a:pPr>
            <a:r>
              <a:rPr lang="en-US" sz="1200" dirty="0">
                <a:solidFill>
                  <a:srgbClr val="CBD5E0"/>
                </a:solidFill>
                <a:latin typeface="IBM Plex Sans" pitchFamily="34" charset="0"/>
                <a:ea typeface="IBM Plex Sans" pitchFamily="34" charset="-122"/>
                <a:cs typeface="IBM Plex Sans" pitchFamily="34" charset="-120"/>
              </a:rPr>
              <a:t>Conversion and match quality data</a:t>
            </a:r>
            <a:endParaRPr lang="en-US" sz="1200" dirty="0"/>
          </a:p>
        </p:txBody>
      </p:sp>
      <p:sp>
        <p:nvSpPr>
          <p:cNvPr id="12" name="Text 10"/>
          <p:cNvSpPr/>
          <p:nvPr/>
        </p:nvSpPr>
        <p:spPr>
          <a:xfrm>
            <a:off x="4937760" y="2057400"/>
            <a:ext cx="3657600" cy="274320"/>
          </a:xfrm>
          <a:prstGeom prst="rect">
            <a:avLst/>
          </a:prstGeom>
          <a:noFill/>
          <a:ln/>
        </p:spPr>
        <p:txBody>
          <a:bodyPr wrap="square" lIns="0" tIns="0" rIns="0" bIns="0" rtlCol="0" anchor="ctr"/>
          <a:lstStyle/>
          <a:p>
            <a:pPr indent="0" marL="0">
              <a:buNone/>
            </a:pPr>
            <a:r>
              <a:rPr lang="en-US" sz="1200" dirty="0">
                <a:solidFill>
                  <a:srgbClr val="5C7CFA"/>
                </a:solidFill>
                <a:latin typeface="IBM Plex Sans" pitchFamily="34" charset="0"/>
                <a:ea typeface="IBM Plex Sans" pitchFamily="34" charset="-122"/>
                <a:cs typeface="IBM Plex Sans" pitchFamily="34" charset="-120"/>
              </a:rPr>
              <a:t>→ </a:t>
            </a:r>
            <a:pPr indent="0" marL="0">
              <a:buNone/>
            </a:pPr>
            <a:r>
              <a:rPr lang="en-US" sz="1200" dirty="0">
                <a:solidFill>
                  <a:srgbClr val="CBD5E0"/>
                </a:solidFill>
                <a:latin typeface="IBM Plex Sans" pitchFamily="34" charset="0"/>
                <a:ea typeface="IBM Plex Sans" pitchFamily="34" charset="-122"/>
                <a:cs typeface="IBM Plex Sans" pitchFamily="34" charset="-120"/>
              </a:rPr>
              <a:t>Seed round positioning</a:t>
            </a:r>
            <a:endParaRPr lang="en-US" sz="1200" dirty="0"/>
          </a:p>
        </p:txBody>
      </p:sp>
      <p:sp>
        <p:nvSpPr>
          <p:cNvPr id="13" name="Shape 11"/>
          <p:cNvSpPr/>
          <p:nvPr/>
        </p:nvSpPr>
        <p:spPr>
          <a:xfrm>
            <a:off x="731520" y="2788920"/>
            <a:ext cx="7680960" cy="1005840"/>
          </a:xfrm>
          <a:prstGeom prst="rect">
            <a:avLst/>
          </a:prstGeom>
          <a:solidFill>
            <a:srgbClr val="1F2D40"/>
          </a:solidFill>
          <a:ln/>
        </p:spPr>
      </p:sp>
      <p:sp>
        <p:nvSpPr>
          <p:cNvPr id="14" name="Text 12"/>
          <p:cNvSpPr/>
          <p:nvPr/>
        </p:nvSpPr>
        <p:spPr>
          <a:xfrm>
            <a:off x="914400" y="2880360"/>
            <a:ext cx="7315200" cy="274320"/>
          </a:xfrm>
          <a:prstGeom prst="rect">
            <a:avLst/>
          </a:prstGeom>
          <a:noFill/>
          <a:ln/>
        </p:spPr>
        <p:txBody>
          <a:bodyPr wrap="square" lIns="0" tIns="0" rIns="0" bIns="0" rtlCol="0" anchor="ctr"/>
          <a:lstStyle/>
          <a:p>
            <a:pPr indent="0" marL="0">
              <a:buNone/>
            </a:pPr>
            <a:r>
              <a:rPr lang="en-US" sz="1300" b="1" dirty="0">
                <a:solidFill>
                  <a:srgbClr val="5C7CFA"/>
                </a:solidFill>
                <a:latin typeface="IBM Plex Sans" pitchFamily="34" charset="0"/>
                <a:ea typeface="IBM Plex Sans" pitchFamily="34" charset="-122"/>
                <a:cs typeface="IBM Plex Sans" pitchFamily="34" charset="-120"/>
              </a:rPr>
              <a:t>European alignment</a:t>
            </a:r>
            <a:endParaRPr lang="en-US" sz="1300" dirty="0"/>
          </a:p>
        </p:txBody>
      </p:sp>
      <p:sp>
        <p:nvSpPr>
          <p:cNvPr id="15" name="Text 13"/>
          <p:cNvSpPr/>
          <p:nvPr/>
        </p:nvSpPr>
        <p:spPr>
          <a:xfrm>
            <a:off x="1097280" y="3200400"/>
            <a:ext cx="7132320" cy="182880"/>
          </a:xfrm>
          <a:prstGeom prst="rect">
            <a:avLst/>
          </a:prstGeom>
          <a:noFill/>
          <a:ln/>
        </p:spPr>
        <p:txBody>
          <a:bodyPr wrap="square" lIns="0" tIns="0" rIns="0" bIns="0" rtlCol="0" anchor="ctr"/>
          <a:lstStyle/>
          <a:p>
            <a:pPr indent="0" marL="0">
              <a:buNone/>
            </a:pPr>
            <a:r>
              <a:rPr lang="en-US" sz="1100" dirty="0">
                <a:solidFill>
                  <a:srgbClr val="5C7CFA"/>
                </a:solidFill>
                <a:latin typeface="IBM Plex Sans" pitchFamily="34" charset="0"/>
                <a:ea typeface="IBM Plex Sans" pitchFamily="34" charset="-122"/>
                <a:cs typeface="IBM Plex Sans" pitchFamily="34" charset="-120"/>
              </a:rPr>
              <a:t>→ </a:t>
            </a:r>
            <a:pPr indent="0" marL="0">
              <a:buNone/>
            </a:pPr>
            <a:r>
              <a:rPr lang="en-US" sz="1100" dirty="0">
                <a:solidFill>
                  <a:srgbClr val="CBD5E0"/>
                </a:solidFill>
                <a:latin typeface="IBM Plex Sans" pitchFamily="34" charset="0"/>
                <a:ea typeface="IBM Plex Sans" pitchFamily="34" charset="-122"/>
                <a:cs typeface="IBM Plex Sans" pitchFamily="34" charset="-120"/>
              </a:rPr>
              <a:t>Consent and identity architecture maps directly to EU AI Act requirements</a:t>
            </a:r>
            <a:endParaRPr lang="en-US" sz="1100" dirty="0"/>
          </a:p>
        </p:txBody>
      </p:sp>
      <p:sp>
        <p:nvSpPr>
          <p:cNvPr id="16" name="Text 14"/>
          <p:cNvSpPr/>
          <p:nvPr/>
        </p:nvSpPr>
        <p:spPr>
          <a:xfrm>
            <a:off x="1097280" y="3383280"/>
            <a:ext cx="7132320" cy="182880"/>
          </a:xfrm>
          <a:prstGeom prst="rect">
            <a:avLst/>
          </a:prstGeom>
          <a:noFill/>
          <a:ln/>
        </p:spPr>
        <p:txBody>
          <a:bodyPr wrap="square" lIns="0" tIns="0" rIns="0" bIns="0" rtlCol="0" anchor="ctr"/>
          <a:lstStyle/>
          <a:p>
            <a:pPr indent="0" marL="0">
              <a:buNone/>
            </a:pPr>
            <a:r>
              <a:rPr lang="en-US" sz="1100" dirty="0">
                <a:solidFill>
                  <a:srgbClr val="5C7CFA"/>
                </a:solidFill>
                <a:latin typeface="IBM Plex Sans" pitchFamily="34" charset="0"/>
                <a:ea typeface="IBM Plex Sans" pitchFamily="34" charset="-122"/>
                <a:cs typeface="IBM Plex Sans" pitchFamily="34" charset="-120"/>
              </a:rPr>
              <a:t>→ </a:t>
            </a:r>
            <a:pPr indent="0" marL="0">
              <a:buNone/>
            </a:pPr>
            <a:r>
              <a:rPr lang="en-US" sz="1100" dirty="0">
                <a:solidFill>
                  <a:srgbClr val="CBD5E0"/>
                </a:solidFill>
                <a:latin typeface="IBM Plex Sans" pitchFamily="34" charset="0"/>
                <a:ea typeface="IBM Plex Sans" pitchFamily="34" charset="-122"/>
                <a:cs typeface="IBM Plex Sans" pitchFamily="34" charset="-120"/>
              </a:rPr>
              <a:t>European Digital Identity Wallet integration pathway</a:t>
            </a:r>
            <a:endParaRPr lang="en-US" sz="1100" dirty="0"/>
          </a:p>
        </p:txBody>
      </p:sp>
      <p:sp>
        <p:nvSpPr>
          <p:cNvPr id="17" name="Text 15"/>
          <p:cNvSpPr/>
          <p:nvPr/>
        </p:nvSpPr>
        <p:spPr>
          <a:xfrm>
            <a:off x="1097280" y="3566160"/>
            <a:ext cx="7132320" cy="182880"/>
          </a:xfrm>
          <a:prstGeom prst="rect">
            <a:avLst/>
          </a:prstGeom>
          <a:noFill/>
          <a:ln/>
        </p:spPr>
        <p:txBody>
          <a:bodyPr wrap="square" lIns="0" tIns="0" rIns="0" bIns="0" rtlCol="0" anchor="ctr"/>
          <a:lstStyle/>
          <a:p>
            <a:pPr indent="0" marL="0">
              <a:buNone/>
            </a:pPr>
            <a:r>
              <a:rPr lang="en-US" sz="1100" dirty="0">
                <a:solidFill>
                  <a:srgbClr val="5C7CFA"/>
                </a:solidFill>
                <a:latin typeface="IBM Plex Sans" pitchFamily="34" charset="0"/>
                <a:ea typeface="IBM Plex Sans" pitchFamily="34" charset="-122"/>
                <a:cs typeface="IBM Plex Sans" pitchFamily="34" charset="-120"/>
              </a:rPr>
              <a:t>→ </a:t>
            </a:r>
            <a:pPr indent="0" marL="0">
              <a:buNone/>
            </a:pPr>
            <a:r>
              <a:rPr lang="en-US" sz="1100" dirty="0">
                <a:solidFill>
                  <a:srgbClr val="CBD5E0"/>
                </a:solidFill>
                <a:latin typeface="IBM Plex Sans" pitchFamily="34" charset="0"/>
                <a:ea typeface="IBM Plex Sans" pitchFamily="34" charset="-122"/>
                <a:cs typeface="IBM Plex Sans" pitchFamily="34" charset="-120"/>
              </a:rPr>
              <a:t>Incumbents will need to retrofit. AURA builds natively.</a:t>
            </a:r>
            <a:endParaRPr lang="en-US" sz="1100" dirty="0"/>
          </a:p>
        </p:txBody>
      </p:sp>
      <p:sp>
        <p:nvSpPr>
          <p:cNvPr id="18" name="Text 16"/>
          <p:cNvSpPr/>
          <p:nvPr/>
        </p:nvSpPr>
        <p:spPr>
          <a:xfrm>
            <a:off x="731520" y="3886200"/>
            <a:ext cx="7680960" cy="1005840"/>
          </a:xfrm>
          <a:prstGeom prst="rect">
            <a:avLst/>
          </a:prstGeom>
          <a:noFill/>
          <a:ln/>
        </p:spPr>
        <p:txBody>
          <a:bodyPr wrap="square" lIns="0" tIns="0" rIns="0" bIns="0" rtlCol="0" anchor="ctr"/>
          <a:lstStyle/>
          <a:p>
            <a:pPr indent="0" marL="0">
              <a:buNone/>
            </a:pPr>
            <a:r>
              <a:rPr lang="en-US" sz="1800" b="1" dirty="0">
                <a:solidFill>
                  <a:srgbClr val="FFFFFF"/>
                </a:solidFill>
                <a:latin typeface="Space Grotesk" pitchFamily="34" charset="0"/>
                <a:ea typeface="Space Grotesk" pitchFamily="34" charset="-122"/>
                <a:cs typeface="Space Grotesk" pitchFamily="34" charset="-120"/>
              </a:rPr>
              <a:t>When agents mediate commerce at scale,</a:t>
            </a:r>
            <a:endParaRPr lang="en-US" sz="1800" dirty="0"/>
          </a:p>
          <a:p>
            <a:pPr indent="0" marL="0">
              <a:buNone/>
            </a:pPr>
            <a:r>
              <a:rPr lang="en-US" sz="1800" b="1" dirty="0">
                <a:solidFill>
                  <a:srgbClr val="FFFFFF"/>
                </a:solidFill>
                <a:latin typeface="Space Grotesk" pitchFamily="34" charset="0"/>
                <a:ea typeface="Space Grotesk" pitchFamily="34" charset="-122"/>
                <a:cs typeface="Space Grotesk" pitchFamily="34" charset="-120"/>
              </a:rPr>
              <a:t>the infrastructure layer is the defensible position.</a:t>
            </a:r>
            <a:endParaRPr lang="en-US" sz="1800" dirty="0"/>
          </a:p>
          <a:p>
            <a:pPr indent="0" marL="0">
              <a:buNone/>
            </a:pPr>
            <a:r>
              <a:rPr lang="en-US" sz="1800" b="1" dirty="0">
                <a:solidFill>
                  <a:srgbClr val="FFFFFF"/>
                </a:solidFill>
                <a:latin typeface="Space Grotesk" pitchFamily="34" charset="0"/>
                <a:ea typeface="Space Grotesk" pitchFamily="34" charset="-122"/>
                <a:cs typeface="Space Grotesk" pitchFamily="34" charset="-120"/>
              </a:rPr>
              <a:t>We're building that layer.</a:t>
            </a:r>
            <a:endParaRPr lang="en-US" sz="1800" dirty="0"/>
          </a:p>
        </p:txBody>
      </p:sp>
      <p:sp>
        <p:nvSpPr>
          <p:cNvPr id="19" name="Text 17"/>
          <p:cNvSpPr/>
          <p:nvPr/>
        </p:nvSpPr>
        <p:spPr>
          <a:xfrm>
            <a:off x="8412480" y="4754880"/>
            <a:ext cx="457200" cy="274320"/>
          </a:xfrm>
          <a:prstGeom prst="rect">
            <a:avLst/>
          </a:prstGeom>
          <a:noFill/>
          <a:ln/>
        </p:spPr>
        <p:txBody>
          <a:bodyPr wrap="square" rtlCol="0" anchor="ctr"/>
          <a:lstStyle/>
          <a:p>
            <a:pPr algn="r" indent="0" marL="0">
              <a:buNone/>
            </a:pPr>
            <a:r>
              <a:rPr lang="en-US" sz="900" dirty="0">
                <a:solidFill>
                  <a:srgbClr val="718096"/>
                </a:solidFill>
                <a:latin typeface="IBM Plex Sans" pitchFamily="34" charset="0"/>
                <a:ea typeface="IBM Plex Sans" pitchFamily="34" charset="-122"/>
                <a:cs typeface="IBM Plex Sa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lIns="0" tIns="0" rIns="0" bIns="0" rtlCol="0" anchor="ctr"/>
          <a:lstStyle/>
          <a:p>
            <a:pPr indent="0" marL="0">
              <a:buNone/>
            </a:pPr>
            <a:r>
              <a:rPr lang="en-US" sz="2000" b="1" dirty="0">
                <a:solidFill>
                  <a:srgbClr val="1A2332"/>
                </a:solidFill>
                <a:latin typeface="Space Grotesk" pitchFamily="34" charset="0"/>
                <a:ea typeface="Space Grotesk" pitchFamily="34" charset="-122"/>
                <a:cs typeface="Space Grotesk" pitchFamily="34" charset="-120"/>
              </a:rPr>
              <a:t>Appendix A1: Full Protocol Coverage Matrix</a:t>
            </a:r>
            <a:endParaRPr lang="en-US" sz="2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1737360"/>
                <a:gridCol w="731520"/>
                <a:gridCol w="731520"/>
                <a:gridCol w="731520"/>
                <a:gridCol w="731520"/>
                <a:gridCol w="731520"/>
                <a:gridCol w="731520"/>
                <a:gridCol w="731520"/>
                <a:gridCol w="822960"/>
              </a:tblGrid>
              <a:tr h="274320">
                <a:tc>
                  <a:txBody>
                    <a:bodyPr/>
                    <a:lstStyle/>
                    <a:p>
                      <a:pPr algn="l" indent="0" marL="0">
                        <a:buNone/>
                      </a:pPr>
                      <a:r>
                        <a:rPr lang="en-US" sz="900" b="1" dirty="0">
                          <a:solidFill>
                            <a:srgbClr val="FFFFFF"/>
                          </a:solidFill>
                        </a:rPr>
                        <a:t>Commerce Phase</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900" b="1" dirty="0">
                          <a:solidFill>
                            <a:srgbClr val="FFFFFF"/>
                          </a:solidFill>
                        </a:rPr>
                        <a:t>MCP</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900" b="1" dirty="0">
                          <a:solidFill>
                            <a:srgbClr val="FFFFFF"/>
                          </a:solidFill>
                        </a:rPr>
                        <a:t>A2A</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900" b="1" dirty="0">
                          <a:solidFill>
                            <a:srgbClr val="FFFFFF"/>
                          </a:solidFill>
                        </a:rPr>
                        <a:t>UCP</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900" b="1" dirty="0">
                          <a:solidFill>
                            <a:srgbClr val="FFFFFF"/>
                          </a:solidFill>
                        </a:rPr>
                        <a:t>ACP</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900" b="1" dirty="0">
                          <a:solidFill>
                            <a:srgbClr val="FFFFFF"/>
                          </a:solidFill>
                        </a:rPr>
                        <a:t>AP2</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900" b="1" dirty="0">
                          <a:solidFill>
                            <a:srgbClr val="FFFFFF"/>
                          </a:solidFill>
                        </a:rPr>
                        <a:t>x402</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900" b="1" dirty="0">
                          <a:solidFill>
                            <a:srgbClr val="FFFFFF"/>
                          </a:solidFill>
                        </a:rPr>
                        <a:t>TAP</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900" b="1" dirty="0">
                          <a:solidFill>
                            <a:srgbClr val="FFFFFF"/>
                          </a:solidFill>
                        </a:rPr>
                        <a:t>AURA</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B5BDB"/>
                    </a:solidFill>
                  </a:tcPr>
                </a:tc>
              </a:tr>
              <a:tr h="274320">
                <a:tc>
                  <a:txBody>
                    <a:bodyPr/>
                    <a:lstStyle/>
                    <a:p>
                      <a:pPr algn="l" indent="0" marL="0">
                        <a:buNone/>
                      </a:pPr>
                      <a:r>
                        <a:rPr lang="en-US" sz="900" dirty="0">
                          <a:solidFill>
                            <a:srgbClr val="1A2332"/>
                          </a:solidFill>
                        </a:rPr>
                        <a:t>Discovery &amp; Matching</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Values-based Matching</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Constraint Satisfaction</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Autonomous Negotiation</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Behavioral Reputation</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Neutral Brokering</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Identity &amp; Consent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Agent Communication</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Data Access</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Payment Execution</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Checkout Flow</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Fulfillment Tracking</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38A169"/>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l" indent="0" marL="0">
                        <a:buNone/>
                      </a:pPr>
                      <a:r>
                        <a:rPr lang="en-US" sz="900" dirty="0">
                          <a:solidFill>
                            <a:srgbClr val="1A2332"/>
                          </a:solidFill>
                        </a:rPr>
                        <a:t>Dispute Resolution</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718096"/>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D69E2E"/>
                          </a:solidFill>
                        </a:rPr>
                        <a: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4" name="Text 1"/>
          <p:cNvSpPr/>
          <p:nvPr/>
        </p:nvSpPr>
        <p:spPr>
          <a:xfrm>
            <a:off x="274320" y="4663440"/>
            <a:ext cx="2743200" cy="274320"/>
          </a:xfrm>
          <a:prstGeom prst="rect">
            <a:avLst/>
          </a:prstGeom>
          <a:noFill/>
          <a:ln/>
        </p:spPr>
        <p:txBody>
          <a:bodyPr wrap="square" lIns="0" tIns="0" rIns="0" bIns="0" rtlCol="0" anchor="ctr"/>
          <a:lstStyle/>
          <a:p>
            <a:pPr indent="0" marL="0">
              <a:buNone/>
            </a:pPr>
            <a:r>
              <a:rPr lang="en-US" sz="900" dirty="0">
                <a:solidFill>
                  <a:srgbClr val="718096"/>
                </a:solidFill>
                <a:latin typeface="IBM Plex Sans" pitchFamily="34" charset="0"/>
                <a:ea typeface="IBM Plex Sans" pitchFamily="34" charset="-122"/>
                <a:cs typeface="IBM Plex Sans" pitchFamily="34" charset="-120"/>
              </a:rPr>
              <a:t>● Covered   ◐ Partial   — Absent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lIns="0" tIns="0" rIns="0" bIns="0" rtlCol="0" anchor="ctr"/>
          <a:lstStyle/>
          <a:p>
            <a:pPr indent="0" marL="0">
              <a:buNone/>
            </a:pPr>
            <a:r>
              <a:rPr lang="en-US" sz="2000" b="1" dirty="0">
                <a:solidFill>
                  <a:srgbClr val="1A2332"/>
                </a:solidFill>
                <a:latin typeface="Space Grotesk" pitchFamily="34" charset="0"/>
                <a:ea typeface="Space Grotesk" pitchFamily="34" charset="-122"/>
                <a:cs typeface="Space Grotesk" pitchFamily="34" charset="-120"/>
              </a:rPr>
              <a:t>Appendix A2: Regulatory Landscape</a:t>
            </a:r>
            <a:endParaRPr lang="en-US" sz="2000" dirty="0"/>
          </a:p>
        </p:txBody>
      </p:sp>
      <p:sp>
        <p:nvSpPr>
          <p:cNvPr id="3" name="Shape 1"/>
          <p:cNvSpPr/>
          <p:nvPr/>
        </p:nvSpPr>
        <p:spPr>
          <a:xfrm>
            <a:off x="731520" y="914400"/>
            <a:ext cx="768096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Shape 2"/>
          <p:cNvSpPr/>
          <p:nvPr/>
        </p:nvSpPr>
        <p:spPr>
          <a:xfrm>
            <a:off x="731520" y="914400"/>
            <a:ext cx="54864" cy="1051560"/>
          </a:xfrm>
          <a:prstGeom prst="rect">
            <a:avLst/>
          </a:prstGeom>
          <a:solidFill>
            <a:srgbClr val="3B5BDB"/>
          </a:solidFill>
          <a:ln/>
        </p:spPr>
      </p:sp>
      <p:sp>
        <p:nvSpPr>
          <p:cNvPr id="5" name="Text 3"/>
          <p:cNvSpPr/>
          <p:nvPr/>
        </p:nvSpPr>
        <p:spPr>
          <a:xfrm>
            <a:off x="1005840" y="1005840"/>
            <a:ext cx="7223760" cy="274320"/>
          </a:xfrm>
          <a:prstGeom prst="rect">
            <a:avLst/>
          </a:prstGeom>
          <a:noFill/>
          <a:ln/>
        </p:spPr>
        <p:txBody>
          <a:bodyPr wrap="square" lIns="0" tIns="0" rIns="0" bIns="0" rtlCol="0" anchor="ctr"/>
          <a:lstStyle/>
          <a:p>
            <a:pPr indent="0" marL="0">
              <a:buNone/>
            </a:pPr>
            <a:r>
              <a:rPr lang="en-US" sz="1400" b="1" dirty="0">
                <a:solidFill>
                  <a:srgbClr val="1A2332"/>
                </a:solidFill>
                <a:latin typeface="IBM Plex Sans" pitchFamily="34" charset="0"/>
                <a:ea typeface="IBM Plex Sans" pitchFamily="34" charset="-122"/>
                <a:cs typeface="IBM Plex Sans" pitchFamily="34" charset="-120"/>
              </a:rPr>
              <a:t>EU AI Act</a:t>
            </a:r>
            <a:endParaRPr lang="en-US" sz="1400" dirty="0"/>
          </a:p>
        </p:txBody>
      </p:sp>
      <p:sp>
        <p:nvSpPr>
          <p:cNvPr id="6" name="Text 4"/>
          <p:cNvSpPr/>
          <p:nvPr/>
        </p:nvSpPr>
        <p:spPr>
          <a:xfrm>
            <a:off x="1005840" y="1280160"/>
            <a:ext cx="7223760" cy="59436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Agentic commerce systems performing autonomous purchasing will likely be classified as high-risk, triggering documentation, risk assessment, transparency, and human oversight obligations. AURA's pre-defined constraint model may satisfy the Act's human oversight requirements without requiring real-time approval per transaction.</a:t>
            </a:r>
            <a:endParaRPr lang="en-US" sz="1100" dirty="0"/>
          </a:p>
        </p:txBody>
      </p:sp>
      <p:sp>
        <p:nvSpPr>
          <p:cNvPr id="7" name="Shape 5"/>
          <p:cNvSpPr/>
          <p:nvPr/>
        </p:nvSpPr>
        <p:spPr>
          <a:xfrm>
            <a:off x="731520" y="2194560"/>
            <a:ext cx="768096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8" name="Shape 6"/>
          <p:cNvSpPr/>
          <p:nvPr/>
        </p:nvSpPr>
        <p:spPr>
          <a:xfrm>
            <a:off x="731520" y="2194560"/>
            <a:ext cx="54864" cy="1051560"/>
          </a:xfrm>
          <a:prstGeom prst="rect">
            <a:avLst/>
          </a:prstGeom>
          <a:solidFill>
            <a:srgbClr val="3B5BDB"/>
          </a:solidFill>
          <a:ln/>
        </p:spPr>
      </p:sp>
      <p:sp>
        <p:nvSpPr>
          <p:cNvPr id="9" name="Text 7"/>
          <p:cNvSpPr/>
          <p:nvPr/>
        </p:nvSpPr>
        <p:spPr>
          <a:xfrm>
            <a:off x="1005840" y="2286000"/>
            <a:ext cx="7223760" cy="274320"/>
          </a:xfrm>
          <a:prstGeom prst="rect">
            <a:avLst/>
          </a:prstGeom>
          <a:noFill/>
          <a:ln/>
        </p:spPr>
        <p:txBody>
          <a:bodyPr wrap="square" lIns="0" tIns="0" rIns="0" bIns="0" rtlCol="0" anchor="ctr"/>
          <a:lstStyle/>
          <a:p>
            <a:pPr indent="0" marL="0">
              <a:buNone/>
            </a:pPr>
            <a:r>
              <a:rPr lang="en-US" sz="1400" b="1" dirty="0">
                <a:solidFill>
                  <a:srgbClr val="1A2332"/>
                </a:solidFill>
                <a:latin typeface="IBM Plex Sans" pitchFamily="34" charset="0"/>
                <a:ea typeface="IBM Plex Sans" pitchFamily="34" charset="-122"/>
                <a:cs typeface="IBM Plex Sans" pitchFamily="34" charset="-120"/>
              </a:rPr>
              <a:t>Nordic/Baltic Alignment</a:t>
            </a:r>
            <a:endParaRPr lang="en-US" sz="1400" dirty="0"/>
          </a:p>
        </p:txBody>
      </p:sp>
      <p:sp>
        <p:nvSpPr>
          <p:cNvPr id="10" name="Text 8"/>
          <p:cNvSpPr/>
          <p:nvPr/>
        </p:nvSpPr>
        <p:spPr>
          <a:xfrm>
            <a:off x="1005840" y="2560320"/>
            <a:ext cx="7223760" cy="59436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All Nordic EU members and Baltic states fall under EU AI Act. Norway and Iceland implementing through EEA by 2026. Region actively coordinating on European Digital Identity Wallets with common certification scheme targeting completion by end of 2026.</a:t>
            </a:r>
            <a:endParaRPr lang="en-US" sz="1100" dirty="0"/>
          </a:p>
        </p:txBody>
      </p:sp>
      <p:sp>
        <p:nvSpPr>
          <p:cNvPr id="11" name="Shape 9"/>
          <p:cNvSpPr/>
          <p:nvPr/>
        </p:nvSpPr>
        <p:spPr>
          <a:xfrm>
            <a:off x="731520" y="3474720"/>
            <a:ext cx="768096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2" name="Shape 10"/>
          <p:cNvSpPr/>
          <p:nvPr/>
        </p:nvSpPr>
        <p:spPr>
          <a:xfrm>
            <a:off x="731520" y="3474720"/>
            <a:ext cx="54864" cy="1051560"/>
          </a:xfrm>
          <a:prstGeom prst="rect">
            <a:avLst/>
          </a:prstGeom>
          <a:solidFill>
            <a:srgbClr val="3B5BDB"/>
          </a:solidFill>
          <a:ln/>
        </p:spPr>
      </p:sp>
      <p:sp>
        <p:nvSpPr>
          <p:cNvPr id="13" name="Text 11"/>
          <p:cNvSpPr/>
          <p:nvPr/>
        </p:nvSpPr>
        <p:spPr>
          <a:xfrm>
            <a:off x="1005840" y="3566160"/>
            <a:ext cx="7223760" cy="274320"/>
          </a:xfrm>
          <a:prstGeom prst="rect">
            <a:avLst/>
          </a:prstGeom>
          <a:noFill/>
          <a:ln/>
        </p:spPr>
        <p:txBody>
          <a:bodyPr wrap="square" lIns="0" tIns="0" rIns="0" bIns="0" rtlCol="0" anchor="ctr"/>
          <a:lstStyle/>
          <a:p>
            <a:pPr indent="0" marL="0">
              <a:buNone/>
            </a:pPr>
            <a:r>
              <a:rPr lang="en-US" sz="1400" b="1" dirty="0">
                <a:solidFill>
                  <a:srgbClr val="1A2332"/>
                </a:solidFill>
                <a:latin typeface="IBM Plex Sans" pitchFamily="34" charset="0"/>
                <a:ea typeface="IBM Plex Sans" pitchFamily="34" charset="-122"/>
                <a:cs typeface="IBM Plex Sans" pitchFamily="34" charset="-120"/>
              </a:rPr>
              <a:t>Strategic Advantage</a:t>
            </a:r>
            <a:endParaRPr lang="en-US" sz="1400" dirty="0"/>
          </a:p>
        </p:txBody>
      </p:sp>
      <p:sp>
        <p:nvSpPr>
          <p:cNvPr id="14" name="Text 12"/>
          <p:cNvSpPr/>
          <p:nvPr/>
        </p:nvSpPr>
        <p:spPr>
          <a:xfrm>
            <a:off x="1005840" y="3840480"/>
            <a:ext cx="7223760" cy="594360"/>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AURA's consent and identity architecture maps directly to EU AI Act requirements. Incumbents will need to retrofit these capabilities. This strengthens the case for Estonia incorporation and EU regulatory alignment.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lIns="0" tIns="0" rIns="0" bIns="0" rtlCol="0" anchor="ctr"/>
          <a:lstStyle/>
          <a:p>
            <a:pPr indent="0" marL="0">
              <a:buNone/>
            </a:pPr>
            <a:r>
              <a:rPr lang="en-US" sz="2000" b="1" dirty="0">
                <a:solidFill>
                  <a:srgbClr val="1A2332"/>
                </a:solidFill>
                <a:latin typeface="Space Grotesk" pitchFamily="34" charset="0"/>
                <a:ea typeface="Space Grotesk" pitchFamily="34" charset="-122"/>
                <a:cs typeface="Space Grotesk" pitchFamily="34" charset="-120"/>
              </a:rPr>
              <a:t>Appendix A3: Use of Funds Detail</a:t>
            </a:r>
            <a:endParaRPr lang="en-US" sz="2000" dirty="0"/>
          </a:p>
        </p:txBody>
      </p:sp>
      <p:sp>
        <p:nvSpPr>
          <p:cNvPr id="3" name="Text 1"/>
          <p:cNvSpPr/>
          <p:nvPr/>
        </p:nvSpPr>
        <p:spPr>
          <a:xfrm>
            <a:off x="731520" y="777240"/>
            <a:ext cx="7680960" cy="320040"/>
          </a:xfrm>
          <a:prstGeom prst="rect">
            <a:avLst/>
          </a:prstGeom>
          <a:noFill/>
          <a:ln/>
        </p:spPr>
        <p:txBody>
          <a:bodyPr wrap="square" lIns="0" tIns="0" rIns="0" bIns="0" rtlCol="0" anchor="ctr"/>
          <a:lstStyle/>
          <a:p>
            <a:pPr indent="0" marL="0">
              <a:buNone/>
            </a:pPr>
            <a:r>
              <a:rPr lang="en-US" sz="1400" b="1" dirty="0">
                <a:solidFill>
                  <a:srgbClr val="3B5BDB"/>
                </a:solidFill>
                <a:latin typeface="IBM Plex Sans" pitchFamily="34" charset="0"/>
                <a:ea typeface="IBM Plex Sans" pitchFamily="34" charset="-122"/>
                <a:cs typeface="IBM Plex Sans" pitchFamily="34" charset="-120"/>
              </a:rPr>
              <a:t>18-month runway  •  £745K total  •  ~£41K/month burn (ramping)</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280160"/>
          <a:ext cx="7680960" cy="914400"/>
        </p:xfrm>
        <a:graphic>
          <a:graphicData uri="http://schemas.openxmlformats.org/drawingml/2006/table">
            <a:tbl>
              <a:tblPr/>
              <a:tblGrid>
                <a:gridCol w="5486400"/>
                <a:gridCol w="2194560"/>
              </a:tblGrid>
              <a:tr h="411480">
                <a:tc>
                  <a:txBody>
                    <a:bodyPr/>
                    <a:lstStyle/>
                    <a:p>
                      <a:pPr indent="0" marL="0">
                        <a:buNone/>
                      </a:pPr>
                      <a:r>
                        <a:rPr lang="en-US" sz="1200" b="1" dirty="0">
                          <a:solidFill>
                            <a:srgbClr val="FFFFFF"/>
                          </a:solidFill>
                        </a:rPr>
                        <a:t>Role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r" indent="0" marL="0">
                        <a:buNone/>
                      </a:pPr>
                      <a:r>
                        <a:rPr lang="en-US" sz="1200" b="1" dirty="0">
                          <a:solidFill>
                            <a:srgbClr val="FFFFFF"/>
                          </a:solidFill>
                        </a:rPr>
                        <a:t>Allocation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r>
              <a:tr h="411480">
                <a:tc>
                  <a:txBody>
                    <a:bodyPr/>
                    <a:lstStyle/>
                    <a:p>
                      <a:pPr indent="0" marL="0">
                        <a:buNone/>
                      </a:pPr>
                      <a:r>
                        <a:rPr lang="en-US" sz="1200" dirty="0">
                          <a:solidFill>
                            <a:srgbClr val="1A2332"/>
                          </a:solidFill>
                        </a:rPr>
                        <a:t>Marc Massar, CEO</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00" b="1" dirty="0">
                          <a:solidFill>
                            <a:srgbClr val="1A2332"/>
                          </a:solidFill>
                        </a:rPr>
                        <a:t>£95K</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1A2332"/>
                          </a:solidFill>
                        </a:rPr>
                        <a:t>Senior Engineer (full-time)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00" b="1" dirty="0">
                          <a:solidFill>
                            <a:srgbClr val="1A2332"/>
                          </a:solidFill>
                        </a:rPr>
                        <a:t>£110K</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1A2332"/>
                          </a:solidFill>
                        </a:rPr>
                        <a:t>Engineer (half-time)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00" b="1" dirty="0">
                          <a:solidFill>
                            <a:srgbClr val="1A2332"/>
                          </a:solidFill>
                        </a:rPr>
                        <a:t>£40K</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1A2332"/>
                          </a:solidFill>
                        </a:rPr>
                        <a:t>Product/GTM Lead (0.6 FTE)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00" b="1" dirty="0">
                          <a:solidFill>
                            <a:srgbClr val="1A2332"/>
                          </a:solidFill>
                        </a:rPr>
                        <a:t>£45K</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4A5568"/>
                          </a:solidFill>
                        </a:rPr>
                        <a:t>Operational (marketing, legal, infra, travel)</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00" dirty="0">
                          <a:solidFill>
                            <a:srgbClr val="4A5568"/>
                          </a:solidFill>
                        </a:rPr>
                        <a:t>Balance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731520" y="3566160"/>
            <a:ext cx="7680960" cy="320040"/>
          </a:xfrm>
          <a:prstGeom prst="rect">
            <a:avLst/>
          </a:prstGeom>
          <a:noFill/>
          <a:ln/>
        </p:spPr>
        <p:txBody>
          <a:bodyPr wrap="square" lIns="0" tIns="0" rIns="0" bIns="0" rtlCol="0" anchor="ctr"/>
          <a:lstStyle/>
          <a:p>
            <a:pPr indent="0" marL="0">
              <a:buNone/>
            </a:pPr>
            <a:r>
              <a:rPr lang="en-US" sz="1200" b="1" dirty="0">
                <a:solidFill>
                  <a:srgbClr val="1A2332"/>
                </a:solidFill>
              </a:rPr>
              <a:t>Equity: </a:t>
            </a:r>
            <a:pPr indent="0" marL="0">
              <a:buNone/>
            </a:pPr>
            <a:r>
              <a:rPr lang="en-US" sz="1200" dirty="0">
                <a:solidFill>
                  <a:srgbClr val="4A5568"/>
                </a:solidFill>
              </a:rPr>
              <a:t>10-15% option pool with 4-year vesting and 1-year cliff (UK EMI scheme)</a:t>
            </a:r>
            <a:endParaRPr lang="en-US" sz="1200" dirty="0"/>
          </a:p>
        </p:txBody>
      </p:sp>
      <p:sp>
        <p:nvSpPr>
          <p:cNvPr id="6" name="Text 3"/>
          <p:cNvSpPr/>
          <p:nvPr/>
        </p:nvSpPr>
        <p:spPr>
          <a:xfrm>
            <a:off x="731520" y="3931920"/>
            <a:ext cx="7680960" cy="320040"/>
          </a:xfrm>
          <a:prstGeom prst="rect">
            <a:avLst/>
          </a:prstGeom>
          <a:noFill/>
          <a:ln/>
        </p:spPr>
        <p:txBody>
          <a:bodyPr wrap="square" lIns="0" tIns="0" rIns="0" bIns="0" rtlCol="0" anchor="ctr"/>
          <a:lstStyle/>
          <a:p>
            <a:pPr indent="0" marL="0">
              <a:buNone/>
            </a:pPr>
            <a:r>
              <a:rPr lang="en-US" sz="1200" b="1" dirty="0">
                <a:solidFill>
                  <a:srgbClr val="1A2332"/>
                </a:solidFill>
              </a:rPr>
              <a:t>Patents (optional): </a:t>
            </a:r>
            <a:pPr indent="0" marL="0">
              <a:buNone/>
            </a:pPr>
            <a:r>
              <a:rPr lang="en-US" sz="1200" dirty="0">
                <a:solidFill>
                  <a:srgbClr val="4A5568"/>
                </a:solidFill>
              </a:rPr>
              <a:t>£15-25K for algorithmic fairness auditing provisionals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lIns="0" tIns="0" rIns="0" bIns="0" rtlCol="0" anchor="ctr"/>
          <a:lstStyle/>
          <a:p>
            <a:pPr indent="0" marL="0">
              <a:buNone/>
            </a:pPr>
            <a:r>
              <a:rPr lang="en-US" sz="2000" b="1" dirty="0">
                <a:solidFill>
                  <a:srgbClr val="1A2332"/>
                </a:solidFill>
                <a:latin typeface="Space Grotesk" pitchFamily="34" charset="0"/>
                <a:ea typeface="Space Grotesk" pitchFamily="34" charset="-122"/>
                <a:cs typeface="Space Grotesk" pitchFamily="34" charset="-120"/>
              </a:rPr>
              <a:t>Appendix A4: Policy Brief Summary</a:t>
            </a:r>
            <a:endParaRPr lang="en-US" sz="2000" dirty="0"/>
          </a:p>
        </p:txBody>
      </p:sp>
      <p:sp>
        <p:nvSpPr>
          <p:cNvPr id="3" name="Text 1"/>
          <p:cNvSpPr/>
          <p:nvPr/>
        </p:nvSpPr>
        <p:spPr>
          <a:xfrm>
            <a:off x="731520" y="731520"/>
            <a:ext cx="7680960" cy="320040"/>
          </a:xfrm>
          <a:prstGeom prst="rect">
            <a:avLst/>
          </a:prstGeom>
          <a:noFill/>
          <a:ln/>
        </p:spPr>
        <p:txBody>
          <a:bodyPr wrap="square" lIns="0" tIns="0" rIns="0" bIns="0" rtlCol="0" anchor="ctr"/>
          <a:lstStyle/>
          <a:p>
            <a:pPr indent="0" marL="0">
              <a:buNone/>
            </a:pPr>
            <a:r>
              <a:rPr lang="en-US" sz="1300" i="1" dirty="0">
                <a:solidFill>
                  <a:srgbClr val="3B5BDB"/>
                </a:solidFill>
                <a:latin typeface="IBM Plex Sans" pitchFamily="34" charset="0"/>
                <a:ea typeface="IBM Plex Sans" pitchFamily="34" charset="-122"/>
                <a:cs typeface="IBM Plex Sans" pitchFamily="34" charset="-120"/>
              </a:rPr>
              <a:t>"Whose Agent Is It?" — Five principles for AI agent transparency in consumer commerce</a:t>
            </a:r>
            <a:endParaRPr lang="en-US" sz="1300" dirty="0"/>
          </a:p>
        </p:txBody>
      </p:sp>
      <p:sp>
        <p:nvSpPr>
          <p:cNvPr id="4" name="Text 2"/>
          <p:cNvSpPr/>
          <p:nvPr/>
        </p:nvSpPr>
        <p:spPr>
          <a:xfrm>
            <a:off x="731520" y="1051560"/>
            <a:ext cx="7680960" cy="228600"/>
          </a:xfrm>
          <a:prstGeom prst="rect">
            <a:avLst/>
          </a:prstGeom>
          <a:noFill/>
          <a:ln/>
        </p:spPr>
        <p:txBody>
          <a:bodyPr wrap="square" lIns="0" tIns="0" rIns="0" bIns="0" rtlCol="0" anchor="ctr"/>
          <a:lstStyle/>
          <a:p>
            <a:pPr indent="0" marL="0">
              <a:buNone/>
            </a:pPr>
            <a:r>
              <a:rPr lang="en-US" sz="1000" dirty="0">
                <a:solidFill>
                  <a:srgbClr val="718096"/>
                </a:solidFill>
                <a:latin typeface="IBM Plex Sans" pitchFamily="34" charset="0"/>
                <a:ea typeface="IBM Plex Sans" pitchFamily="34" charset="-122"/>
                <a:cs typeface="IBM Plex Sans" pitchFamily="34" charset="-120"/>
              </a:rPr>
              <a:t>Developed with Renee Murphy (former Forrester lead analyst, risk/audit/sustainability)</a:t>
            </a:r>
            <a:endParaRPr lang="en-US" sz="1000" dirty="0"/>
          </a:p>
        </p:txBody>
      </p:sp>
      <p:sp>
        <p:nvSpPr>
          <p:cNvPr id="5" name="Shape 3"/>
          <p:cNvSpPr/>
          <p:nvPr/>
        </p:nvSpPr>
        <p:spPr>
          <a:xfrm>
            <a:off x="731520" y="1463040"/>
            <a:ext cx="76809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Text 4"/>
          <p:cNvSpPr/>
          <p:nvPr/>
        </p:nvSpPr>
        <p:spPr>
          <a:xfrm>
            <a:off x="914400" y="1536192"/>
            <a:ext cx="320040" cy="320040"/>
          </a:xfrm>
          <a:prstGeom prst="ellipse">
            <a:avLst/>
          </a:prstGeom>
          <a:solidFill>
            <a:srgbClr val="3B5BDB"/>
          </a:solidFill>
          <a:ln/>
        </p:spPr>
        <p:txBody>
          <a:bodyPr wrap="square" rtlCol="0" anchor="ctr"/>
          <a:lstStyle/>
          <a:p>
            <a:pPr algn="ctr" indent="0" marL="0">
              <a:buNone/>
            </a:pPr>
            <a:r>
              <a:rPr lang="en-US" sz="1400" dirty="0">
                <a:solidFill>
                  <a:srgbClr val="FFFFFF"/>
                </a:solidFill>
                <a:latin typeface="IBM Plex Sans" pitchFamily="34" charset="0"/>
                <a:ea typeface="IBM Plex Sans" pitchFamily="34" charset="-122"/>
                <a:cs typeface="IBM Plex Sans" pitchFamily="34" charset="-120"/>
              </a:rPr>
              <a:t>1</a:t>
            </a:r>
            <a:endParaRPr lang="en-US" sz="1400" dirty="0"/>
          </a:p>
        </p:txBody>
      </p:sp>
      <p:sp>
        <p:nvSpPr>
          <p:cNvPr id="7" name="Text 5"/>
          <p:cNvSpPr/>
          <p:nvPr/>
        </p:nvSpPr>
        <p:spPr>
          <a:xfrm>
            <a:off x="1417320" y="1508760"/>
            <a:ext cx="2286000" cy="228600"/>
          </a:xfrm>
          <a:prstGeom prst="rect">
            <a:avLst/>
          </a:prstGeom>
          <a:noFill/>
          <a:ln/>
        </p:spPr>
        <p:txBody>
          <a:bodyPr wrap="square" lIns="0" tIns="0" rIns="0" bIns="0" rtlCol="0" anchor="ctr"/>
          <a:lstStyle/>
          <a:p>
            <a:pPr indent="0" marL="0">
              <a:buNone/>
            </a:pPr>
            <a:r>
              <a:rPr lang="en-US" sz="1300" b="1" dirty="0">
                <a:solidFill>
                  <a:srgbClr val="1A2332"/>
                </a:solidFill>
                <a:latin typeface="IBM Plex Sans" pitchFamily="34" charset="0"/>
                <a:ea typeface="IBM Plex Sans" pitchFamily="34" charset="-122"/>
                <a:cs typeface="IBM Plex Sans" pitchFamily="34" charset="-120"/>
              </a:rPr>
              <a:t>Agent Loyalty Disclosure</a:t>
            </a:r>
            <a:endParaRPr lang="en-US" sz="1300" dirty="0"/>
          </a:p>
        </p:txBody>
      </p:sp>
      <p:sp>
        <p:nvSpPr>
          <p:cNvPr id="8" name="Text 6"/>
          <p:cNvSpPr/>
          <p:nvPr/>
        </p:nvSpPr>
        <p:spPr>
          <a:xfrm>
            <a:off x="1417320" y="1737360"/>
            <a:ext cx="6766560" cy="201168"/>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Who does the agent serve? Transparent declaration of principal relationship.</a:t>
            </a:r>
            <a:endParaRPr lang="en-US" sz="1100" dirty="0"/>
          </a:p>
        </p:txBody>
      </p:sp>
      <p:sp>
        <p:nvSpPr>
          <p:cNvPr id="9" name="Shape 7"/>
          <p:cNvSpPr/>
          <p:nvPr/>
        </p:nvSpPr>
        <p:spPr>
          <a:xfrm>
            <a:off x="731520" y="2103120"/>
            <a:ext cx="76809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914400" y="2176272"/>
            <a:ext cx="320040" cy="320040"/>
          </a:xfrm>
          <a:prstGeom prst="ellipse">
            <a:avLst/>
          </a:prstGeom>
          <a:solidFill>
            <a:srgbClr val="3B5BDB"/>
          </a:solidFill>
          <a:ln/>
        </p:spPr>
        <p:txBody>
          <a:bodyPr wrap="square" rtlCol="0" anchor="ctr"/>
          <a:lstStyle/>
          <a:p>
            <a:pPr algn="ctr" indent="0" marL="0">
              <a:buNone/>
            </a:pPr>
            <a:r>
              <a:rPr lang="en-US" sz="1400" dirty="0">
                <a:solidFill>
                  <a:srgbClr val="FFFFFF"/>
                </a:solidFill>
                <a:latin typeface="IBM Plex Sans" pitchFamily="34" charset="0"/>
                <a:ea typeface="IBM Plex Sans" pitchFamily="34" charset="-122"/>
                <a:cs typeface="IBM Plex Sans" pitchFamily="34" charset="-120"/>
              </a:rPr>
              <a:t>2</a:t>
            </a:r>
            <a:endParaRPr lang="en-US" sz="1400" dirty="0"/>
          </a:p>
        </p:txBody>
      </p:sp>
      <p:sp>
        <p:nvSpPr>
          <p:cNvPr id="11" name="Text 9"/>
          <p:cNvSpPr/>
          <p:nvPr/>
        </p:nvSpPr>
        <p:spPr>
          <a:xfrm>
            <a:off x="1417320" y="2148840"/>
            <a:ext cx="2286000" cy="228600"/>
          </a:xfrm>
          <a:prstGeom prst="rect">
            <a:avLst/>
          </a:prstGeom>
          <a:noFill/>
          <a:ln/>
        </p:spPr>
        <p:txBody>
          <a:bodyPr wrap="square" lIns="0" tIns="0" rIns="0" bIns="0" rtlCol="0" anchor="ctr"/>
          <a:lstStyle/>
          <a:p>
            <a:pPr indent="0" marL="0">
              <a:buNone/>
            </a:pPr>
            <a:r>
              <a:rPr lang="en-US" sz="1300" b="1" dirty="0">
                <a:solidFill>
                  <a:srgbClr val="1A2332"/>
                </a:solidFill>
                <a:latin typeface="IBM Plex Sans" pitchFamily="34" charset="0"/>
                <a:ea typeface="IBM Plex Sans" pitchFamily="34" charset="-122"/>
                <a:cs typeface="IBM Plex Sans" pitchFamily="34" charset="-120"/>
              </a:rPr>
              <a:t>Recommendation Provenance</a:t>
            </a:r>
            <a:endParaRPr lang="en-US" sz="1300" dirty="0"/>
          </a:p>
        </p:txBody>
      </p:sp>
      <p:sp>
        <p:nvSpPr>
          <p:cNvPr id="12" name="Text 10"/>
          <p:cNvSpPr/>
          <p:nvPr/>
        </p:nvSpPr>
        <p:spPr>
          <a:xfrm>
            <a:off x="1417320" y="2377440"/>
            <a:ext cx="6766560" cy="201168"/>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Why this recommendation? Traceability from user intent to offer selection.</a:t>
            </a:r>
            <a:endParaRPr lang="en-US" sz="1100" dirty="0"/>
          </a:p>
        </p:txBody>
      </p:sp>
      <p:sp>
        <p:nvSpPr>
          <p:cNvPr id="13" name="Shape 11"/>
          <p:cNvSpPr/>
          <p:nvPr/>
        </p:nvSpPr>
        <p:spPr>
          <a:xfrm>
            <a:off x="731520" y="2743200"/>
            <a:ext cx="76809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Text 12"/>
          <p:cNvSpPr/>
          <p:nvPr/>
        </p:nvSpPr>
        <p:spPr>
          <a:xfrm>
            <a:off x="914400" y="2816352"/>
            <a:ext cx="320040" cy="320040"/>
          </a:xfrm>
          <a:prstGeom prst="ellipse">
            <a:avLst/>
          </a:prstGeom>
          <a:solidFill>
            <a:srgbClr val="3B5BDB"/>
          </a:solidFill>
          <a:ln/>
        </p:spPr>
        <p:txBody>
          <a:bodyPr wrap="square" rtlCol="0" anchor="ctr"/>
          <a:lstStyle/>
          <a:p>
            <a:pPr algn="ctr" indent="0" marL="0">
              <a:buNone/>
            </a:pPr>
            <a:r>
              <a:rPr lang="en-US" sz="1400" dirty="0">
                <a:solidFill>
                  <a:srgbClr val="FFFFFF"/>
                </a:solidFill>
                <a:latin typeface="IBM Plex Sans" pitchFamily="34" charset="0"/>
                <a:ea typeface="IBM Plex Sans" pitchFamily="34" charset="-122"/>
                <a:cs typeface="IBM Plex Sans" pitchFamily="34" charset="-120"/>
              </a:rPr>
              <a:t>3</a:t>
            </a:r>
            <a:endParaRPr lang="en-US" sz="1400" dirty="0"/>
          </a:p>
        </p:txBody>
      </p:sp>
      <p:sp>
        <p:nvSpPr>
          <p:cNvPr id="15" name="Text 13"/>
          <p:cNvSpPr/>
          <p:nvPr/>
        </p:nvSpPr>
        <p:spPr>
          <a:xfrm>
            <a:off x="1417320" y="2788920"/>
            <a:ext cx="2286000" cy="228600"/>
          </a:xfrm>
          <a:prstGeom prst="rect">
            <a:avLst/>
          </a:prstGeom>
          <a:noFill/>
          <a:ln/>
        </p:spPr>
        <p:txBody>
          <a:bodyPr wrap="square" lIns="0" tIns="0" rIns="0" bIns="0" rtlCol="0" anchor="ctr"/>
          <a:lstStyle/>
          <a:p>
            <a:pPr indent="0" marL="0">
              <a:buNone/>
            </a:pPr>
            <a:r>
              <a:rPr lang="en-US" sz="1300" b="1" dirty="0">
                <a:solidFill>
                  <a:srgbClr val="1A2332"/>
                </a:solidFill>
                <a:latin typeface="IBM Plex Sans" pitchFamily="34" charset="0"/>
                <a:ea typeface="IBM Plex Sans" pitchFamily="34" charset="-122"/>
                <a:cs typeface="IBM Plex Sans" pitchFamily="34" charset="-120"/>
              </a:rPr>
              <a:t>Anti-Manipulation Measures</a:t>
            </a:r>
            <a:endParaRPr lang="en-US" sz="1300" dirty="0"/>
          </a:p>
        </p:txBody>
      </p:sp>
      <p:sp>
        <p:nvSpPr>
          <p:cNvPr id="16" name="Text 14"/>
          <p:cNvSpPr/>
          <p:nvPr/>
        </p:nvSpPr>
        <p:spPr>
          <a:xfrm>
            <a:off x="1417320" y="3017520"/>
            <a:ext cx="6766560" cy="201168"/>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Protection against prompt injection, data poisoning, behavioral exploitation.</a:t>
            </a:r>
            <a:endParaRPr lang="en-US" sz="1100" dirty="0"/>
          </a:p>
        </p:txBody>
      </p:sp>
      <p:sp>
        <p:nvSpPr>
          <p:cNvPr id="17" name="Shape 15"/>
          <p:cNvSpPr/>
          <p:nvPr/>
        </p:nvSpPr>
        <p:spPr>
          <a:xfrm>
            <a:off x="731520" y="3383280"/>
            <a:ext cx="76809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8" name="Text 16"/>
          <p:cNvSpPr/>
          <p:nvPr/>
        </p:nvSpPr>
        <p:spPr>
          <a:xfrm>
            <a:off x="914400" y="3456432"/>
            <a:ext cx="320040" cy="320040"/>
          </a:xfrm>
          <a:prstGeom prst="ellipse">
            <a:avLst/>
          </a:prstGeom>
          <a:solidFill>
            <a:srgbClr val="3B5BDB"/>
          </a:solidFill>
          <a:ln/>
        </p:spPr>
        <p:txBody>
          <a:bodyPr wrap="square" rtlCol="0" anchor="ctr"/>
          <a:lstStyle/>
          <a:p>
            <a:pPr algn="ctr" indent="0" marL="0">
              <a:buNone/>
            </a:pPr>
            <a:r>
              <a:rPr lang="en-US" sz="1400" dirty="0">
                <a:solidFill>
                  <a:srgbClr val="FFFFFF"/>
                </a:solidFill>
                <a:latin typeface="IBM Plex Sans" pitchFamily="34" charset="0"/>
                <a:ea typeface="IBM Plex Sans" pitchFamily="34" charset="-122"/>
                <a:cs typeface="IBM Plex Sans" pitchFamily="34" charset="-120"/>
              </a:rPr>
              <a:t>4</a:t>
            </a:r>
            <a:endParaRPr lang="en-US" sz="1400" dirty="0"/>
          </a:p>
        </p:txBody>
      </p:sp>
      <p:sp>
        <p:nvSpPr>
          <p:cNvPr id="19" name="Text 17"/>
          <p:cNvSpPr/>
          <p:nvPr/>
        </p:nvSpPr>
        <p:spPr>
          <a:xfrm>
            <a:off x="1417320" y="3429000"/>
            <a:ext cx="2286000" cy="228600"/>
          </a:xfrm>
          <a:prstGeom prst="rect">
            <a:avLst/>
          </a:prstGeom>
          <a:noFill/>
          <a:ln/>
        </p:spPr>
        <p:txBody>
          <a:bodyPr wrap="square" lIns="0" tIns="0" rIns="0" bIns="0" rtlCol="0" anchor="ctr"/>
          <a:lstStyle/>
          <a:p>
            <a:pPr indent="0" marL="0">
              <a:buNone/>
            </a:pPr>
            <a:r>
              <a:rPr lang="en-US" sz="1300" b="1" dirty="0">
                <a:solidFill>
                  <a:srgbClr val="1A2332"/>
                </a:solidFill>
                <a:latin typeface="IBM Plex Sans" pitchFamily="34" charset="0"/>
                <a:ea typeface="IBM Plex Sans" pitchFamily="34" charset="-122"/>
                <a:cs typeface="IBM Plex Sans" pitchFamily="34" charset="-120"/>
              </a:rPr>
              <a:t>Memory Integrity</a:t>
            </a:r>
            <a:endParaRPr lang="en-US" sz="1300" dirty="0"/>
          </a:p>
        </p:txBody>
      </p:sp>
      <p:sp>
        <p:nvSpPr>
          <p:cNvPr id="20" name="Text 18"/>
          <p:cNvSpPr/>
          <p:nvPr/>
        </p:nvSpPr>
        <p:spPr>
          <a:xfrm>
            <a:off x="1417320" y="3657600"/>
            <a:ext cx="6766560" cy="201168"/>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User behavioral data cannot be altered retroactively or used against user interests.</a:t>
            </a:r>
            <a:endParaRPr lang="en-US" sz="1100" dirty="0"/>
          </a:p>
        </p:txBody>
      </p:sp>
      <p:sp>
        <p:nvSpPr>
          <p:cNvPr id="21" name="Shape 19"/>
          <p:cNvSpPr/>
          <p:nvPr/>
        </p:nvSpPr>
        <p:spPr>
          <a:xfrm>
            <a:off x="731520" y="4023360"/>
            <a:ext cx="76809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2" name="Text 20"/>
          <p:cNvSpPr/>
          <p:nvPr/>
        </p:nvSpPr>
        <p:spPr>
          <a:xfrm>
            <a:off x="914400" y="4096512"/>
            <a:ext cx="320040" cy="320040"/>
          </a:xfrm>
          <a:prstGeom prst="ellipse">
            <a:avLst/>
          </a:prstGeom>
          <a:solidFill>
            <a:srgbClr val="3B5BDB"/>
          </a:solidFill>
          <a:ln/>
        </p:spPr>
        <p:txBody>
          <a:bodyPr wrap="square" rtlCol="0" anchor="ctr"/>
          <a:lstStyle/>
          <a:p>
            <a:pPr algn="ctr" indent="0" marL="0">
              <a:buNone/>
            </a:pPr>
            <a:r>
              <a:rPr lang="en-US" sz="1400" dirty="0">
                <a:solidFill>
                  <a:srgbClr val="FFFFFF"/>
                </a:solidFill>
                <a:latin typeface="IBM Plex Sans" pitchFamily="34" charset="0"/>
                <a:ea typeface="IBM Plex Sans" pitchFamily="34" charset="-122"/>
                <a:cs typeface="IBM Plex Sans" pitchFamily="34" charset="-120"/>
              </a:rPr>
              <a:t>5</a:t>
            </a:r>
            <a:endParaRPr lang="en-US" sz="1400" dirty="0"/>
          </a:p>
        </p:txBody>
      </p:sp>
      <p:sp>
        <p:nvSpPr>
          <p:cNvPr id="23" name="Text 21"/>
          <p:cNvSpPr/>
          <p:nvPr/>
        </p:nvSpPr>
        <p:spPr>
          <a:xfrm>
            <a:off x="1417320" y="4069080"/>
            <a:ext cx="2286000" cy="228600"/>
          </a:xfrm>
          <a:prstGeom prst="rect">
            <a:avLst/>
          </a:prstGeom>
          <a:noFill/>
          <a:ln/>
        </p:spPr>
        <p:txBody>
          <a:bodyPr wrap="square" lIns="0" tIns="0" rIns="0" bIns="0" rtlCol="0" anchor="ctr"/>
          <a:lstStyle/>
          <a:p>
            <a:pPr indent="0" marL="0">
              <a:buNone/>
            </a:pPr>
            <a:r>
              <a:rPr lang="en-US" sz="1300" b="1" dirty="0">
                <a:solidFill>
                  <a:srgbClr val="1A2332"/>
                </a:solidFill>
                <a:latin typeface="IBM Plex Sans" pitchFamily="34" charset="0"/>
                <a:ea typeface="IBM Plex Sans" pitchFamily="34" charset="-122"/>
                <a:cs typeface="IBM Plex Sans" pitchFamily="34" charset="-120"/>
              </a:rPr>
              <a:t>Consumer Right to Agent Audit</a:t>
            </a:r>
            <a:endParaRPr lang="en-US" sz="1300" dirty="0"/>
          </a:p>
        </p:txBody>
      </p:sp>
      <p:sp>
        <p:nvSpPr>
          <p:cNvPr id="24" name="Text 22"/>
          <p:cNvSpPr/>
          <p:nvPr/>
        </p:nvSpPr>
        <p:spPr>
          <a:xfrm>
            <a:off x="1417320" y="4297680"/>
            <a:ext cx="6766560" cy="201168"/>
          </a:xfrm>
          <a:prstGeom prst="rect">
            <a:avLst/>
          </a:prstGeom>
          <a:noFill/>
          <a:ln/>
        </p:spPr>
        <p:txBody>
          <a:bodyPr wrap="square" lIns="0" tIns="0" rIns="0" bIns="0" rtlCol="0" anchor="ctr"/>
          <a:lstStyle/>
          <a:p>
            <a:pPr indent="0" marL="0">
              <a:buNone/>
            </a:pPr>
            <a:r>
              <a:rPr lang="en-US" sz="1100" dirty="0">
                <a:solidFill>
                  <a:srgbClr val="4A5568"/>
                </a:solidFill>
                <a:latin typeface="IBM Plex Sans" pitchFamily="34" charset="0"/>
                <a:ea typeface="IBM Plex Sans" pitchFamily="34" charset="-122"/>
                <a:cs typeface="IBM Plex Sans" pitchFamily="34" charset="-120"/>
              </a:rPr>
              <a:t>Users can inspect agent decision history and constraint application.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lIns="0" tIns="0" rIns="0" bIns="0" rtlCol="0" anchor="ctr"/>
          <a:lstStyle/>
          <a:p>
            <a:pPr indent="0" marL="0">
              <a:buNone/>
            </a:pPr>
            <a:r>
              <a:rPr lang="en-US" sz="2000" b="1" dirty="0">
                <a:solidFill>
                  <a:srgbClr val="1A2332"/>
                </a:solidFill>
                <a:latin typeface="Space Grotesk" pitchFamily="34" charset="0"/>
                <a:ea typeface="Space Grotesk" pitchFamily="34" charset="-122"/>
                <a:cs typeface="Space Grotesk" pitchFamily="34" charset="-120"/>
              </a:rPr>
              <a:t>Appendix A5: Market Data Sources</a:t>
            </a:r>
            <a:endParaRPr lang="en-US" sz="2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914400"/>
          <a:ext cx="7680960" cy="914400"/>
        </p:xfrm>
        <a:graphic>
          <a:graphicData uri="http://schemas.openxmlformats.org/drawingml/2006/table">
            <a:tbl>
              <a:tblPr/>
              <a:tblGrid>
                <a:gridCol w="3840480"/>
                <a:gridCol w="914400"/>
                <a:gridCol w="2926080"/>
              </a:tblGrid>
              <a:tr h="365760">
                <a:tc>
                  <a:txBody>
                    <a:bodyPr/>
                    <a:lstStyle/>
                    <a:p>
                      <a:pPr indent="0" marL="0">
                        <a:buNone/>
                      </a:pPr>
                      <a:r>
                        <a:rPr lang="en-US" sz="1100" b="1" dirty="0">
                          <a:solidFill>
                            <a:srgbClr val="FFFFFF"/>
                          </a:solidFill>
                        </a:rPr>
                        <a:t>Statistic</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algn="ctr" indent="0" marL="0">
                        <a:buNone/>
                      </a:pPr>
                      <a:r>
                        <a:rPr lang="en-US" sz="1100" b="1" dirty="0">
                          <a:solidFill>
                            <a:srgbClr val="FFFFFF"/>
                          </a:solidFill>
                        </a:rPr>
                        <a:t>Value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indent="0" marL="0">
                        <a:buNone/>
                      </a:pPr>
                      <a:r>
                        <a:rPr lang="en-US" sz="1100" b="1" dirty="0">
                          <a:solidFill>
                            <a:srgbClr val="FFFFFF"/>
                          </a:solidFill>
                        </a:rPr>
                        <a:t>Source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r>
              <a:tr h="365760">
                <a:tc>
                  <a:txBody>
                    <a:bodyPr/>
                    <a:lstStyle/>
                    <a:p>
                      <a:pPr indent="0" marL="0">
                        <a:buNone/>
                      </a:pPr>
                      <a:r>
                        <a:rPr lang="en-US" sz="1000" dirty="0">
                          <a:solidFill>
                            <a:srgbClr val="000000"/>
                          </a:solidFill>
                        </a:rPr>
                        <a:t>Gen Z preferring AI for product research</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000000"/>
                          </a:solidFill>
                        </a:rPr>
                        <a:t>33%</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Mintel 2024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00000"/>
                          </a:solidFill>
                        </a:rPr>
                        <a:t>Consumers wanting AI in shopping</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000000"/>
                          </a:solidFill>
                        </a:rPr>
                        <a:t>71%</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Commerce/Future Commerce 2024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00000"/>
                          </a:solidFill>
                        </a:rPr>
                        <a:t>Millennials trusting AI over human recs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000000"/>
                          </a:solidFill>
                        </a:rPr>
                        <a:t>27%</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Capgemini Research Institute 2025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00000"/>
                          </a:solidFill>
                        </a:rPr>
                        <a:t>Weekly agent-mediated transactions (Alipay)</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000000"/>
                          </a:solidFill>
                        </a:rPr>
                        <a:t>120M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Alipay 2025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00000"/>
                          </a:solidFill>
                        </a:rPr>
                        <a:t>Display ad CTR (banner)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000000"/>
                          </a:solidFill>
                        </a:rPr>
                        <a:t>~0.05%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Industry benchmark (verified)</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00000"/>
                          </a:solidFill>
                        </a:rPr>
                        <a:t>Global digital ad spend (2025)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000000"/>
                          </a:solidFill>
                        </a:rPr>
                        <a:t>$777B</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Industry reports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000" dirty="0">
                          <a:solidFill>
                            <a:srgbClr val="000000"/>
                          </a:solidFill>
                        </a:rPr>
                        <a:t>Global total ad spend (2025)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000000"/>
                          </a:solidFill>
                        </a:rPr>
                        <a:t>$1.14T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Industry reports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4" name="Shape 1"/>
          <p:cNvSpPr/>
          <p:nvPr/>
        </p:nvSpPr>
        <p:spPr>
          <a:xfrm>
            <a:off x="731520" y="3840480"/>
            <a:ext cx="7680960" cy="9144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5" name="Text 2"/>
          <p:cNvSpPr/>
          <p:nvPr/>
        </p:nvSpPr>
        <p:spPr>
          <a:xfrm>
            <a:off x="914400" y="3931920"/>
            <a:ext cx="7315200" cy="731520"/>
          </a:xfrm>
          <a:prstGeom prst="rect">
            <a:avLst/>
          </a:prstGeom>
          <a:noFill/>
          <a:ln/>
        </p:spPr>
        <p:txBody>
          <a:bodyPr wrap="square" lIns="0" tIns="0" rIns="0" bIns="0" rtlCol="0" anchor="ctr"/>
          <a:lstStyle/>
          <a:p>
            <a:pPr indent="0" marL="0">
              <a:buNone/>
            </a:pPr>
            <a:r>
              <a:rPr lang="en-US" sz="1100" b="1" dirty="0">
                <a:solidFill>
                  <a:srgbClr val="1A2332"/>
                </a:solidFill>
              </a:rPr>
              <a:t>Note on CTR vs. conversion rate: </a:t>
            </a:r>
            <a:pPr indent="0" marL="0">
              <a:buNone/>
            </a:pPr>
            <a:r>
              <a:rPr lang="en-US" sz="1000" dirty="0">
                <a:solidFill>
                  <a:srgbClr val="4A5568"/>
                </a:solidFill>
              </a:rPr>
              <a:t>The 0.05% figure is a click-through rate for display/banner ads, not a conversion rate. Standard e-commerce conversion rates are 2-5%. The comparison in AURA materials is between display ad CTR (0.05%) and agent-mediated conversion (~75%), representing the efficiency gap between broadcast advertising and intent-qualified agent engagement.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AURA Labs — Infrastructure for Agentic Commerce</dc:title>
  <dc:subject>PptxGenJS Presentation</dc:subject>
  <dc:creator>Marc Massar</dc:creator>
  <cp:lastModifiedBy>Marc Massar</cp:lastModifiedBy>
  <cp:revision>1</cp:revision>
  <dcterms:created xsi:type="dcterms:W3CDTF">2026-02-24T17:37:22Z</dcterms:created>
  <dcterms:modified xsi:type="dcterms:W3CDTF">2026-02-24T17:37:22Z</dcterms:modified>
</cp:coreProperties>
</file>